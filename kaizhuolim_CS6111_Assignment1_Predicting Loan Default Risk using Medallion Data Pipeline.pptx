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70" r:id="rId2"/>
    <p:sldId id="271" r:id="rId3"/>
    <p:sldId id="274" r:id="rId4"/>
    <p:sldId id="275" r:id="rId5"/>
    <p:sldId id="276" r:id="rId6"/>
  </p:sldIdLst>
  <p:sldSz cx="18288000" cy="10287000"/>
  <p:notesSz cx="6858000" cy="9144000"/>
  <p:embeddedFontLst>
    <p:embeddedFont>
      <p:font typeface="Cambria Math" panose="02040503050406030204" pitchFamily="18" charset="0"/>
      <p:regular r:id="rId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B64B1C4-9DF2-477F-B4DA-854C72ED6FB5}">
          <p14:sldIdLst>
            <p14:sldId id="270"/>
            <p14:sldId id="271"/>
            <p14:sldId id="274"/>
            <p14:sldId id="275"/>
            <p14:sldId id="27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5DAAA"/>
    <a:srgbClr val="DCD4C6"/>
    <a:srgbClr val="D3C7A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260" y="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1642CC65-138F-153C-5892-9A448A521B3D}"/>
              </a:ext>
            </a:extLst>
          </p:cNvPr>
          <p:cNvSpPr/>
          <p:nvPr/>
        </p:nvSpPr>
        <p:spPr>
          <a:xfrm>
            <a:off x="0" y="9058"/>
            <a:ext cx="18288000" cy="79104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CEA1FB-A856-6D43-0CD1-1769ACDFC210}"/>
              </a:ext>
            </a:extLst>
          </p:cNvPr>
          <p:cNvSpPr txBox="1"/>
          <p:nvPr/>
        </p:nvSpPr>
        <p:spPr>
          <a:xfrm>
            <a:off x="3276600" y="142969"/>
            <a:ext cx="11125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Predicting Loan Default Risk using Medallion Data Pipeline</a:t>
            </a:r>
            <a:endParaRPr lang="en-SG" sz="2800" b="1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5DF9A65-12D0-912F-F56B-EB7197D6128B}"/>
                  </a:ext>
                </a:extLst>
              </p:cNvPr>
              <p:cNvSpPr txBox="1"/>
              <p:nvPr/>
            </p:nvSpPr>
            <p:spPr>
              <a:xfrm>
                <a:off x="65044" y="3102649"/>
                <a:ext cx="9144000" cy="14773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kumimoji="0" lang="en-US" altLang="en-US" sz="1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Dataset Overview: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Financial – income, loans, utilization ratios (Financial health metrics)</a:t>
                </a:r>
              </a:p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dirty="0">
                    <a:latin typeface="Arial" panose="020B0604020202020204" pitchFamily="34" charset="0"/>
                  </a:rPr>
                  <a:t>Attributes – age, occupation, demographics (Customer characteristics)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Behaviors – Clickstream events (</a:t>
                </a:r>
                <a14:m>
                  <m:oMath xmlns:m="http://schemas.openxmlformats.org/officeDocument/2006/math">
                    <m:r>
                      <a:rPr kumimoji="0" lang="en-US" altLang="en-US" sz="18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𝑓</m:t>
                    </m:r>
                    <m:sSub>
                      <m:sSubPr>
                        <m:ctrlPr>
                          <a:rPr kumimoji="0" lang="en-SG" altLang="en-US" sz="1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altLang="en-US" sz="1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kumimoji="0" lang="en-SG" altLang="en-US" sz="1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0" lang="en-US" altLang="en-US" sz="18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–</m:t>
                    </m:r>
                    <m:r>
                      <a:rPr kumimoji="0" lang="en-US" altLang="en-US" sz="1800" b="0" i="1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𝑓</m:t>
                    </m:r>
                    <m:sSub>
                      <m:sSubPr>
                        <m:ctrlPr>
                          <a:rPr kumimoji="0" lang="en-SG" altLang="en-US" sz="1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altLang="en-US" sz="1800" b="0" i="1" u="none" strike="noStrike" cap="none" normalizeH="0" baseline="0" dirty="0" err="1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kumimoji="0" lang="en-SG" altLang="en-US" sz="1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20</m:t>
                        </m:r>
                      </m:sub>
                    </m:sSub>
                  </m:oMath>
                </a14:m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) (Customer behaviors)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5DF9A65-12D0-912F-F56B-EB7197D612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44" y="3102649"/>
                <a:ext cx="9144000" cy="1477328"/>
              </a:xfrm>
              <a:prstGeom prst="rect">
                <a:avLst/>
              </a:prstGeom>
              <a:blipFill>
                <a:blip r:embed="rId2"/>
                <a:stretch>
                  <a:fillRect l="-600" t="-2479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Oval 28">
            <a:extLst>
              <a:ext uri="{FF2B5EF4-FFF2-40B4-BE49-F238E27FC236}">
                <a16:creationId xmlns:a16="http://schemas.microsoft.com/office/drawing/2014/main" id="{065E77D9-5A3A-4933-D9FF-319917458236}"/>
              </a:ext>
            </a:extLst>
          </p:cNvPr>
          <p:cNvSpPr/>
          <p:nvPr/>
        </p:nvSpPr>
        <p:spPr>
          <a:xfrm>
            <a:off x="92476" y="922439"/>
            <a:ext cx="523220" cy="52322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2400" b="1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428CA2B-0B84-9487-1921-B1FC7EB099A0}"/>
              </a:ext>
            </a:extLst>
          </p:cNvPr>
          <p:cNvSpPr txBox="1"/>
          <p:nvPr/>
        </p:nvSpPr>
        <p:spPr>
          <a:xfrm>
            <a:off x="585216" y="955605"/>
            <a:ext cx="1785213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Objective: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Build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data pipeline </a:t>
            </a:r>
            <a:r>
              <a:rPr lang="en-US" altLang="en-US" sz="2000" dirty="0">
                <a:latin typeface="Arial" panose="020B0604020202020204" pitchFamily="34" charset="0"/>
              </a:rPr>
              <a:t>to train, tune, evaluate, and deploy a model to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estimate customer default probability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based on financial, attributes, and behaviors (FAB). </a:t>
            </a:r>
            <a:endParaRPr lang="en-US" altLang="en-US" sz="20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Given customer FAB before loan given: to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predict and identify high-risk borrowers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enable loan rejection, proactive intervention, and credit optimization.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CC132FC-2569-8E24-CA21-68258B7241FE}"/>
              </a:ext>
            </a:extLst>
          </p:cNvPr>
          <p:cNvSpPr/>
          <p:nvPr/>
        </p:nvSpPr>
        <p:spPr>
          <a:xfrm>
            <a:off x="0" y="9058"/>
            <a:ext cx="3124200" cy="791042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OVERVIEW</a:t>
            </a:r>
            <a:endParaRPr lang="en-SG" sz="2400" b="1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F1F1C97D-B1E0-96F4-3BB0-DEF9A42C74F6}"/>
              </a:ext>
            </a:extLst>
          </p:cNvPr>
          <p:cNvSpPr/>
          <p:nvPr/>
        </p:nvSpPr>
        <p:spPr>
          <a:xfrm>
            <a:off x="92476" y="2301012"/>
            <a:ext cx="523220" cy="52322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2400" b="1" dirty="0"/>
              <a:t>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90D8CB4-5454-4603-A52E-A8756FDC861E}"/>
              </a:ext>
            </a:extLst>
          </p:cNvPr>
          <p:cNvSpPr txBox="1"/>
          <p:nvPr/>
        </p:nvSpPr>
        <p:spPr>
          <a:xfrm>
            <a:off x="705612" y="2240052"/>
            <a:ext cx="805738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Approach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: Implement a full Medallion architecture (Bronze → Silver → Gold) in </a:t>
            </a:r>
            <a:r>
              <a:rPr kumimoji="0" lang="en-US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PySpark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in a Docker environment.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A41E1FC-B667-7CDC-4A86-C7EE0AC7382C}"/>
              </a:ext>
            </a:extLst>
          </p:cNvPr>
          <p:cNvSpPr txBox="1"/>
          <p:nvPr/>
        </p:nvSpPr>
        <p:spPr>
          <a:xfrm>
            <a:off x="65044" y="4305300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Bronze Overview: </a:t>
            </a:r>
            <a:r>
              <a:rPr kumimoji="0" lang="en-SG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Extract raw data from backen</a:t>
            </a:r>
            <a:r>
              <a:rPr lang="en-SG" altLang="en-US" dirty="0">
                <a:latin typeface="Arial" panose="020B0604020202020204" pitchFamily="34" charset="0"/>
              </a:rPr>
              <a:t>d data source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E36D0F4-E013-F211-DC1D-CF50CE0E9783}"/>
              </a:ext>
            </a:extLst>
          </p:cNvPr>
          <p:cNvSpPr txBox="1"/>
          <p:nvPr/>
        </p:nvSpPr>
        <p:spPr>
          <a:xfrm>
            <a:off x="65044" y="4727237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Arial" panose="020B0604020202020204" pitchFamily="34" charset="0"/>
              </a:rPr>
              <a:t>Silver Overview : </a:t>
            </a:r>
            <a:r>
              <a:rPr kumimoji="0" lang="en-SG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cleaning of raw Bronze data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B0483A3-7904-8DA7-3C00-DAEEAC066B31}"/>
              </a:ext>
            </a:extLst>
          </p:cNvPr>
          <p:cNvSpPr txBox="1"/>
          <p:nvPr/>
        </p:nvSpPr>
        <p:spPr>
          <a:xfrm>
            <a:off x="65044" y="6230415"/>
            <a:ext cx="9144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Arial" panose="020B0604020202020204" pitchFamily="34" charset="0"/>
              </a:rPr>
              <a:t>Gold Overview : </a:t>
            </a:r>
            <a:r>
              <a:rPr kumimoji="0" lang="en-SG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 Engineering to create new features that are either simpler, new insights, or introduces non-linearities (esp. useful for linear models)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D0F51B7-09E8-3DFA-B28C-DE6D72408019}"/>
              </a:ext>
            </a:extLst>
          </p:cNvPr>
          <p:cNvSpPr txBox="1"/>
          <p:nvPr/>
        </p:nvSpPr>
        <p:spPr>
          <a:xfrm>
            <a:off x="285008" y="5109164"/>
            <a:ext cx="9144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SG" altLang="en-US" sz="16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Numerical</a:t>
            </a:r>
            <a:r>
              <a:rPr kumimoji="0" lang="en-SG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Outliers handling, null/ placeholder coercion, string to float/int cleaning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SG" altLang="en-US" sz="1600" b="1" i="1" dirty="0">
                <a:latin typeface="Arial" panose="020B0604020202020204" pitchFamily="34" charset="0"/>
              </a:rPr>
              <a:t>Categorical</a:t>
            </a:r>
            <a:r>
              <a:rPr lang="en-SG" altLang="en-US" sz="1600" dirty="0">
                <a:latin typeface="Arial" panose="020B0604020202020204" pitchFamily="34" charset="0"/>
              </a:rPr>
              <a:t>: Regular expression cleaning, binning, binary/indicator variables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SG" altLang="en-US" sz="1600" dirty="0">
                <a:latin typeface="Arial" panose="020B0604020202020204" pitchFamily="34" charset="0"/>
              </a:rPr>
              <a:t>(e.g. Type of loan split into 1 column for 0/1 for each loan type)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SG" altLang="en-US" sz="1600" b="1" i="1" dirty="0">
                <a:latin typeface="Arial" panose="020B0604020202020204" pitchFamily="34" charset="0"/>
              </a:rPr>
              <a:t>Imputation</a:t>
            </a:r>
            <a:r>
              <a:rPr lang="en-SG" altLang="en-US" sz="1600" dirty="0">
                <a:latin typeface="Arial" panose="020B0604020202020204" pitchFamily="34" charset="0"/>
              </a:rPr>
              <a:t>: Missing values fill with mean of group (e.g. NA salary filled with avg. of job)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D90D239-83D8-BF98-6DC9-7868CD105AE1}"/>
              </a:ext>
            </a:extLst>
          </p:cNvPr>
          <p:cNvSpPr txBox="1"/>
          <p:nvPr/>
        </p:nvSpPr>
        <p:spPr>
          <a:xfrm>
            <a:off x="208808" y="6888143"/>
            <a:ext cx="809699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SG" altLang="en-US" sz="16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Ratio Metrics</a:t>
            </a:r>
            <a:r>
              <a:rPr kumimoji="0" lang="en-SG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Taking ratios of variables of absolute monetary values into new </a:t>
            </a:r>
            <a:r>
              <a:rPr lang="en-SG" altLang="en-US" sz="1600" dirty="0">
                <a:latin typeface="Arial" panose="020B0604020202020204" pitchFamily="34" charset="0"/>
              </a:rPr>
              <a:t>scale-independent financial ratios. E.g. Debt-to-income, Dept-per-loan, EMI-to-income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SG" altLang="en-US" sz="1600" b="1" i="1" dirty="0">
                <a:latin typeface="Arial" panose="020B0604020202020204" pitchFamily="34" charset="0"/>
              </a:rPr>
              <a:t>Non-linear Transformations</a:t>
            </a:r>
            <a:r>
              <a:rPr lang="en-SG" altLang="en-US" sz="1600" dirty="0">
                <a:latin typeface="Arial" panose="020B0604020202020204" pitchFamily="34" charset="0"/>
              </a:rPr>
              <a:t>: Log, squared, cubed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SG" altLang="en-US" sz="1600" b="1" i="1" dirty="0">
                <a:latin typeface="Arial" panose="020B0604020202020204" pitchFamily="34" charset="0"/>
              </a:rPr>
              <a:t>Threshold / Binning: </a:t>
            </a:r>
            <a:r>
              <a:rPr lang="en-SG" altLang="en-US" sz="1600" dirty="0">
                <a:latin typeface="Arial" panose="020B0604020202020204" pitchFamily="34" charset="0"/>
              </a:rPr>
              <a:t>Simplify continuous variables into bins or ordinal categories</a:t>
            </a: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1F6F074E-8545-3810-136E-03AF6DE8FD8F}"/>
              </a:ext>
            </a:extLst>
          </p:cNvPr>
          <p:cNvSpPr/>
          <p:nvPr/>
        </p:nvSpPr>
        <p:spPr>
          <a:xfrm>
            <a:off x="92476" y="8925174"/>
            <a:ext cx="523220" cy="52322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2400" b="1" dirty="0"/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E1A64D0-39D5-D158-4D0A-A05031205069}"/>
              </a:ext>
            </a:extLst>
          </p:cNvPr>
          <p:cNvSpPr txBox="1"/>
          <p:nvPr/>
        </p:nvSpPr>
        <p:spPr>
          <a:xfrm>
            <a:off x="664464" y="8892019"/>
            <a:ext cx="9144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Conclusion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: Medallion architecture setup to provide a clean dataset with feature engineering to train, tune, evaluate, and deploy predictive model. </a:t>
            </a:r>
          </a:p>
          <a:p>
            <a: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Next Action</a:t>
            </a:r>
            <a:r>
              <a:rPr kumimoji="0" lang="en-US" altLang="en-US" sz="2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: </a:t>
            </a:r>
            <a:r>
              <a:rPr lang="en-US" altLang="en-US" sz="2000" dirty="0">
                <a:solidFill>
                  <a:prstClr val="black"/>
                </a:solidFill>
                <a:latin typeface="Arial" panose="020B0604020202020204" pitchFamily="34" charset="0"/>
              </a:rPr>
              <a:t>Train various models (linear regression / XGB), perform feature selection, hyperparameter tuning, to select best model to deploy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867DB40-D8E7-99A7-7A93-0632981012BA}"/>
              </a:ext>
            </a:extLst>
          </p:cNvPr>
          <p:cNvSpPr txBox="1"/>
          <p:nvPr/>
        </p:nvSpPr>
        <p:spPr>
          <a:xfrm>
            <a:off x="25063" y="8029964"/>
            <a:ext cx="9144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Environment &amp; Operations: </a:t>
            </a:r>
            <a:r>
              <a:rPr lang="en-SG" altLang="en-US" dirty="0">
                <a:latin typeface="Arial" panose="020B0604020202020204" pitchFamily="34" charset="0"/>
              </a:rPr>
              <a:t>Running in a docker container. Entire data pipeline is in a </a:t>
            </a:r>
            <a:r>
              <a:rPr lang="en-SG" altLang="en-US" b="1" i="1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</a:rPr>
              <a:t>single main.py file </a:t>
            </a:r>
            <a:r>
              <a:rPr lang="en-SG" altLang="en-US" dirty="0">
                <a:latin typeface="Arial" panose="020B0604020202020204" pitchFamily="34" charset="0"/>
              </a:rPr>
              <a:t>that can be scheduled to run automatically using airflow.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521794B-E7DE-FA9D-3288-29AA2C30310F}"/>
              </a:ext>
            </a:extLst>
          </p:cNvPr>
          <p:cNvSpPr txBox="1"/>
          <p:nvPr/>
        </p:nvSpPr>
        <p:spPr>
          <a:xfrm>
            <a:off x="13325856" y="50636"/>
            <a:ext cx="51054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CS6111 ; Assignment 1</a:t>
            </a:r>
          </a:p>
          <a:p>
            <a:r>
              <a:rPr lang="en-US" sz="2000" b="1" dirty="0">
                <a:solidFill>
                  <a:schemeClr val="bg1"/>
                </a:solidFill>
              </a:rPr>
              <a:t>Lim Kai Zhuo ; kz.lim.2023@mitb.smu.edu.sg</a:t>
            </a:r>
            <a:endParaRPr lang="en-SG" sz="2000" b="1" dirty="0">
              <a:solidFill>
                <a:schemeClr val="bg1"/>
              </a:solidFill>
            </a:endParaRP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7D9E0661-7F20-25DF-9DD4-E78CE32AB2BB}"/>
              </a:ext>
            </a:extLst>
          </p:cNvPr>
          <p:cNvGrpSpPr/>
          <p:nvPr/>
        </p:nvGrpSpPr>
        <p:grpSpPr>
          <a:xfrm>
            <a:off x="10210800" y="7278166"/>
            <a:ext cx="7036985" cy="2733279"/>
            <a:chOff x="9525000" y="5988956"/>
            <a:chExt cx="7036985" cy="2733279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2087B04D-576C-FC48-7D52-E0A4594AC1EE}"/>
                </a:ext>
              </a:extLst>
            </p:cNvPr>
            <p:cNvSpPr/>
            <p:nvPr/>
          </p:nvSpPr>
          <p:spPr>
            <a:xfrm>
              <a:off x="9525000" y="6436235"/>
              <a:ext cx="1371600" cy="2286000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47C91DE-061D-CA7F-0F12-A963A50D5FFF}"/>
                </a:ext>
              </a:extLst>
            </p:cNvPr>
            <p:cNvSpPr txBox="1"/>
            <p:nvPr/>
          </p:nvSpPr>
          <p:spPr>
            <a:xfrm>
              <a:off x="9601200" y="6599701"/>
              <a:ext cx="1219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1600" dirty="0"/>
                <a:t>Financials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DB11CBB-50C7-1275-88AD-C8179B4CE993}"/>
                </a:ext>
              </a:extLst>
            </p:cNvPr>
            <p:cNvSpPr txBox="1"/>
            <p:nvPr/>
          </p:nvSpPr>
          <p:spPr>
            <a:xfrm>
              <a:off x="9601200" y="7799286"/>
              <a:ext cx="1219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1600" dirty="0"/>
                <a:t>Clickstream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22F2CB9-9458-4FF7-0796-279AF70919BB}"/>
                </a:ext>
              </a:extLst>
            </p:cNvPr>
            <p:cNvSpPr txBox="1"/>
            <p:nvPr/>
          </p:nvSpPr>
          <p:spPr>
            <a:xfrm>
              <a:off x="9601200" y="7199493"/>
              <a:ext cx="1219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1600" dirty="0"/>
                <a:t>Attributes</a:t>
              </a:r>
            </a:p>
          </p:txBody>
        </p:sp>
        <p:sp>
          <p:nvSpPr>
            <p:cNvPr id="13" name="Cylinder 12">
              <a:extLst>
                <a:ext uri="{FF2B5EF4-FFF2-40B4-BE49-F238E27FC236}">
                  <a16:creationId xmlns:a16="http://schemas.microsoft.com/office/drawing/2014/main" id="{E84D2DA3-7AFF-80EB-91FA-F4F70B9C34A6}"/>
                </a:ext>
              </a:extLst>
            </p:cNvPr>
            <p:cNvSpPr/>
            <p:nvPr/>
          </p:nvSpPr>
          <p:spPr>
            <a:xfrm>
              <a:off x="11353800" y="6474334"/>
              <a:ext cx="1371600" cy="2209801"/>
            </a:xfrm>
            <a:prstGeom prst="can">
              <a:avLst/>
            </a:prstGeom>
            <a:solidFill>
              <a:srgbClr val="DCD4C6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C5E390B-565A-3700-C439-3F39D991CFD6}"/>
                </a:ext>
              </a:extLst>
            </p:cNvPr>
            <p:cNvSpPr txBox="1"/>
            <p:nvPr/>
          </p:nvSpPr>
          <p:spPr>
            <a:xfrm>
              <a:off x="11397996" y="7006622"/>
              <a:ext cx="1219200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1600" dirty="0"/>
                <a:t>Image of raw data from backend data source</a:t>
              </a:r>
            </a:p>
          </p:txBody>
        </p:sp>
        <p:sp>
          <p:nvSpPr>
            <p:cNvPr id="17" name="Cylinder 16">
              <a:extLst>
                <a:ext uri="{FF2B5EF4-FFF2-40B4-BE49-F238E27FC236}">
                  <a16:creationId xmlns:a16="http://schemas.microsoft.com/office/drawing/2014/main" id="{AFADB05F-95FE-AD86-6DD1-1F078D52890E}"/>
                </a:ext>
              </a:extLst>
            </p:cNvPr>
            <p:cNvSpPr/>
            <p:nvPr/>
          </p:nvSpPr>
          <p:spPr>
            <a:xfrm>
              <a:off x="13224934" y="6474334"/>
              <a:ext cx="1371600" cy="2209801"/>
            </a:xfrm>
            <a:prstGeom prst="can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9D6852F-4E79-82EB-6D56-6C24C2D9BE85}"/>
                </a:ext>
              </a:extLst>
            </p:cNvPr>
            <p:cNvSpPr txBox="1"/>
            <p:nvPr/>
          </p:nvSpPr>
          <p:spPr>
            <a:xfrm>
              <a:off x="13313326" y="6882509"/>
              <a:ext cx="12192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1600" dirty="0"/>
                <a:t>Data Cleaning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0368EE5-57FA-3D52-AC02-AE63D3F54DCB}"/>
                </a:ext>
              </a:extLst>
            </p:cNvPr>
            <p:cNvSpPr txBox="1"/>
            <p:nvPr/>
          </p:nvSpPr>
          <p:spPr>
            <a:xfrm>
              <a:off x="13313326" y="8071028"/>
              <a:ext cx="12192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1600" dirty="0"/>
                <a:t>Categorical Variables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53EC8BF-C677-A66D-D082-ED285E99A2C2}"/>
                </a:ext>
              </a:extLst>
            </p:cNvPr>
            <p:cNvSpPr txBox="1"/>
            <p:nvPr/>
          </p:nvSpPr>
          <p:spPr>
            <a:xfrm>
              <a:off x="13246270" y="7471351"/>
              <a:ext cx="135331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1600" dirty="0"/>
                <a:t>Missing Value Imputation</a:t>
              </a:r>
            </a:p>
          </p:txBody>
        </p:sp>
        <p:sp>
          <p:nvSpPr>
            <p:cNvPr id="21" name="Cylinder 20">
              <a:extLst>
                <a:ext uri="{FF2B5EF4-FFF2-40B4-BE49-F238E27FC236}">
                  <a16:creationId xmlns:a16="http://schemas.microsoft.com/office/drawing/2014/main" id="{5D62E0E8-7DE4-B0A8-E954-3F80E2D7E734}"/>
                </a:ext>
              </a:extLst>
            </p:cNvPr>
            <p:cNvSpPr/>
            <p:nvPr/>
          </p:nvSpPr>
          <p:spPr>
            <a:xfrm>
              <a:off x="15112661" y="6474334"/>
              <a:ext cx="1371600" cy="2209801"/>
            </a:xfrm>
            <a:prstGeom prst="can">
              <a:avLst/>
            </a:prstGeom>
            <a:solidFill>
              <a:srgbClr val="D5DAAA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C4E11DC-E26F-BD63-FD1F-9DBCDF21F0EF}"/>
                </a:ext>
              </a:extLst>
            </p:cNvPr>
            <p:cNvSpPr txBox="1"/>
            <p:nvPr/>
          </p:nvSpPr>
          <p:spPr>
            <a:xfrm>
              <a:off x="15198005" y="6882509"/>
              <a:ext cx="12192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1600" dirty="0"/>
                <a:t>Interaction Variables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14D0439-1D40-ABBB-2D26-72325D9EA975}"/>
                </a:ext>
              </a:extLst>
            </p:cNvPr>
            <p:cNvSpPr txBox="1"/>
            <p:nvPr/>
          </p:nvSpPr>
          <p:spPr>
            <a:xfrm>
              <a:off x="15198005" y="8082094"/>
              <a:ext cx="12192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1600" dirty="0"/>
                <a:t>Binning / Indicators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734F6EF-B030-9B92-1D0E-9C7E5CB66D68}"/>
                </a:ext>
              </a:extLst>
            </p:cNvPr>
            <p:cNvSpPr txBox="1"/>
            <p:nvPr/>
          </p:nvSpPr>
          <p:spPr>
            <a:xfrm>
              <a:off x="15053225" y="7471351"/>
              <a:ext cx="150876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1600" dirty="0"/>
                <a:t>Non-linear Transformation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A5E80F3-DDB6-1E36-BDF5-A386895B92E9}"/>
                </a:ext>
              </a:extLst>
            </p:cNvPr>
            <p:cNvSpPr txBox="1"/>
            <p:nvPr/>
          </p:nvSpPr>
          <p:spPr>
            <a:xfrm>
              <a:off x="9601200" y="5988956"/>
              <a:ext cx="1219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1600" b="1" dirty="0"/>
                <a:t>Data Source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03433ED-9ACF-CEEF-F417-6A65235E3396}"/>
                </a:ext>
              </a:extLst>
            </p:cNvPr>
            <p:cNvSpPr txBox="1"/>
            <p:nvPr/>
          </p:nvSpPr>
          <p:spPr>
            <a:xfrm>
              <a:off x="11420856" y="5988956"/>
              <a:ext cx="1219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1600" b="1" dirty="0"/>
                <a:t>Bronze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132A352-ECE5-F2B9-98F6-246593F5D569}"/>
                </a:ext>
              </a:extLst>
            </p:cNvPr>
            <p:cNvSpPr txBox="1"/>
            <p:nvPr/>
          </p:nvSpPr>
          <p:spPr>
            <a:xfrm>
              <a:off x="13273702" y="5988956"/>
              <a:ext cx="1219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1600" b="1" dirty="0"/>
                <a:t>Silver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59A03F6-9E2B-27FF-E3CE-EFBC169B2661}"/>
                </a:ext>
              </a:extLst>
            </p:cNvPr>
            <p:cNvSpPr txBox="1"/>
            <p:nvPr/>
          </p:nvSpPr>
          <p:spPr>
            <a:xfrm>
              <a:off x="15198005" y="5988956"/>
              <a:ext cx="1219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1600" b="1" dirty="0"/>
                <a:t>Gold</a:t>
              </a:r>
            </a:p>
          </p:txBody>
        </p:sp>
        <p:sp>
          <p:nvSpPr>
            <p:cNvPr id="52" name="Arrow: Right 51">
              <a:extLst>
                <a:ext uri="{FF2B5EF4-FFF2-40B4-BE49-F238E27FC236}">
                  <a16:creationId xmlns:a16="http://schemas.microsoft.com/office/drawing/2014/main" id="{F0D0EC15-BFD9-42F7-E7F5-33804FDB464B}"/>
                </a:ext>
              </a:extLst>
            </p:cNvPr>
            <p:cNvSpPr/>
            <p:nvPr/>
          </p:nvSpPr>
          <p:spPr>
            <a:xfrm>
              <a:off x="10951972" y="7426025"/>
              <a:ext cx="347472" cy="484632"/>
            </a:xfrm>
            <a:prstGeom prst="rightArrow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53" name="Arrow: Right 52">
              <a:extLst>
                <a:ext uri="{FF2B5EF4-FFF2-40B4-BE49-F238E27FC236}">
                  <a16:creationId xmlns:a16="http://schemas.microsoft.com/office/drawing/2014/main" id="{FE67A579-2A27-67C9-9D93-9E54B2DBD7AF}"/>
                </a:ext>
              </a:extLst>
            </p:cNvPr>
            <p:cNvSpPr/>
            <p:nvPr/>
          </p:nvSpPr>
          <p:spPr>
            <a:xfrm>
              <a:off x="12801431" y="7426025"/>
              <a:ext cx="347472" cy="484632"/>
            </a:xfrm>
            <a:prstGeom prst="rightArrow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54" name="Arrow: Right 53">
              <a:extLst>
                <a:ext uri="{FF2B5EF4-FFF2-40B4-BE49-F238E27FC236}">
                  <a16:creationId xmlns:a16="http://schemas.microsoft.com/office/drawing/2014/main" id="{B787D29E-8198-F8C2-56C7-2202D91893A4}"/>
                </a:ext>
              </a:extLst>
            </p:cNvPr>
            <p:cNvSpPr/>
            <p:nvPr/>
          </p:nvSpPr>
          <p:spPr>
            <a:xfrm>
              <a:off x="14676120" y="7426025"/>
              <a:ext cx="347472" cy="484632"/>
            </a:xfrm>
            <a:prstGeom prst="rightArrow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726368D9-352C-917C-5707-581743AD96D6}"/>
                </a:ext>
              </a:extLst>
            </p:cNvPr>
            <p:cNvSpPr txBox="1"/>
            <p:nvPr/>
          </p:nvSpPr>
          <p:spPr>
            <a:xfrm>
              <a:off x="9601200" y="8333399"/>
              <a:ext cx="1219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1600" dirty="0"/>
                <a:t>Loan Data</a:t>
              </a:r>
            </a:p>
          </p:txBody>
        </p:sp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4800AA28-3509-4DA3-88CE-965844215B5A}"/>
              </a:ext>
            </a:extLst>
          </p:cNvPr>
          <p:cNvSpPr txBox="1"/>
          <p:nvPr/>
        </p:nvSpPr>
        <p:spPr>
          <a:xfrm>
            <a:off x="2298531" y="2911686"/>
            <a:ext cx="29379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SG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B608878-C796-BECD-8943-0E33AA66AA19}"/>
              </a:ext>
            </a:extLst>
          </p:cNvPr>
          <p:cNvSpPr txBox="1"/>
          <p:nvPr/>
        </p:nvSpPr>
        <p:spPr>
          <a:xfrm>
            <a:off x="11856889" y="2569675"/>
            <a:ext cx="29379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SG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LABELS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1A41354-8CFB-CA61-C9EC-00E80BB83BE3}"/>
              </a:ext>
            </a:extLst>
          </p:cNvPr>
          <p:cNvSpPr txBox="1"/>
          <p:nvPr/>
        </p:nvSpPr>
        <p:spPr>
          <a:xfrm>
            <a:off x="8852428" y="3044648"/>
            <a:ext cx="4454652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Source for Label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Installment date, overdue amount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b="1" dirty="0">
                <a:latin typeface="Arial" panose="020B0604020202020204" pitchFamily="34" charset="0"/>
              </a:rPr>
              <a:t>Labelling of Customer Default</a:t>
            </a:r>
            <a:r>
              <a:rPr lang="en-US" altLang="en-US" sz="1600" dirty="0">
                <a:latin typeface="Arial" panose="020B0604020202020204" pitchFamily="34" charset="0"/>
              </a:rPr>
              <a:t>: Rather than waiting for customer to default, use days past due to estimate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Days Past Due(DPD) Calculation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Ea</a:t>
            </a:r>
            <a:r>
              <a:rPr lang="en-US" altLang="en-US" sz="1600" dirty="0">
                <a:latin typeface="Arial" panose="020B0604020202020204" pitchFamily="34" charset="0"/>
              </a:rPr>
              <a:t>ch snapshot </a:t>
            </a:r>
            <a:r>
              <a:rPr lang="en-US" altLang="en-US" sz="1600" dirty="0">
                <a:latin typeface="Arial" panose="020B0604020202020204" pitchFamily="34" charset="0"/>
                <a:sym typeface="Wingdings" panose="05000000000000000000" pitchFamily="2" charset="2"/>
              </a:rPr>
              <a:t> If customer has overdue  Subtract snapshot date from first overdue date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sym typeface="Wingdings" panose="05000000000000000000" pitchFamily="2" charset="2"/>
              </a:rPr>
              <a:t>Default Labelling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sym typeface="Wingdings" panose="05000000000000000000" pitchFamily="2" charset="2"/>
              </a:rPr>
              <a:t>: If DPD </a:t>
            </a:r>
            <a:r>
              <a:rPr lang="en-US" altLang="en-US" sz="1600" dirty="0">
                <a:latin typeface="Arial" panose="020B0604020202020204" pitchFamily="34" charset="0"/>
                <a:sym typeface="Wingdings" panose="05000000000000000000" pitchFamily="2" charset="2"/>
              </a:rPr>
              <a:t>&gt; 30  Label as default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b="1" dirty="0">
                <a:latin typeface="Arial" panose="020B0604020202020204" pitchFamily="34" charset="0"/>
                <a:sym typeface="Wingdings" panose="05000000000000000000" pitchFamily="2" charset="2"/>
              </a:rPr>
              <a:t>Threshold DPD of 30: </a:t>
            </a:r>
            <a:r>
              <a:rPr lang="en-US" altLang="en-US" sz="1600" dirty="0">
                <a:latin typeface="Arial" panose="020B0604020202020204" pitchFamily="34" charset="0"/>
                <a:sym typeface="Wingdings" panose="05000000000000000000" pitchFamily="2" charset="2"/>
              </a:rPr>
              <a:t>Selected as threshold as the bad rate plateaus afterwards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600" b="1" dirty="0"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72711347-1563-F16F-6825-0447133D333F}"/>
              </a:ext>
            </a:extLst>
          </p:cNvPr>
          <p:cNvCxnSpPr>
            <a:cxnSpLocks/>
          </p:cNvCxnSpPr>
          <p:nvPr/>
        </p:nvCxnSpPr>
        <p:spPr>
          <a:xfrm>
            <a:off x="8763000" y="2824232"/>
            <a:ext cx="0" cy="4334177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2BFFC62F-7A28-72B3-C2FB-4646AE8129EF}"/>
              </a:ext>
            </a:extLst>
          </p:cNvPr>
          <p:cNvCxnSpPr>
            <a:cxnSpLocks/>
          </p:cNvCxnSpPr>
          <p:nvPr/>
        </p:nvCxnSpPr>
        <p:spPr>
          <a:xfrm flipH="1">
            <a:off x="8763000" y="7277100"/>
            <a:ext cx="9504172" cy="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4B5957D7-4DFF-CE5F-057B-8BB3E1C674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42161" y="2845002"/>
            <a:ext cx="4118796" cy="3221906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0A96BD55-41D9-12E6-A7B5-2E87F210E0CD}"/>
              </a:ext>
            </a:extLst>
          </p:cNvPr>
          <p:cNvSpPr txBox="1"/>
          <p:nvPr/>
        </p:nvSpPr>
        <p:spPr>
          <a:xfrm>
            <a:off x="8879860" y="6081191"/>
            <a:ext cx="923544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Wingdings" panose="05000000000000000000" pitchFamily="2" charset="2"/>
              </a:rPr>
              <a:t>Preventing Data Leakage: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Wingdings" panose="05000000000000000000" pitchFamily="2" charset="2"/>
              </a:rPr>
              <a:t> To prevent data leakage, during training, use X(t-6),y(t) as features and labels. By joining features from a snapshot date 6 months prior to the labels snapshot date, this ensure there is no possible temporal data leakage. Imagine as using all possible information at snapshot t-6 months to predict customer default at snapshot t months</a:t>
            </a:r>
            <a:endParaRPr kumimoji="0" lang="en-US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6422161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6E14701-280B-0A05-A3A7-0EF6A7A36256}"/>
              </a:ext>
            </a:extLst>
          </p:cNvPr>
          <p:cNvSpPr/>
          <p:nvPr/>
        </p:nvSpPr>
        <p:spPr>
          <a:xfrm>
            <a:off x="0" y="9058"/>
            <a:ext cx="18288000" cy="79104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68CE3B4-A194-CA3E-8A31-9442C754A92E}"/>
              </a:ext>
            </a:extLst>
          </p:cNvPr>
          <p:cNvSpPr/>
          <p:nvPr/>
        </p:nvSpPr>
        <p:spPr>
          <a:xfrm>
            <a:off x="0" y="9058"/>
            <a:ext cx="3124200" cy="791042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Bronze Layer</a:t>
            </a:r>
            <a:endParaRPr lang="en-SG" sz="24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B6F3DC-978F-0491-B4A2-21A2086CC400}"/>
              </a:ext>
            </a:extLst>
          </p:cNvPr>
          <p:cNvSpPr txBox="1"/>
          <p:nvPr/>
        </p:nvSpPr>
        <p:spPr>
          <a:xfrm>
            <a:off x="3276600" y="142969"/>
            <a:ext cx="11125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Predicting Loan Default Risk using Medallion Data Pipeline</a:t>
            </a:r>
            <a:endParaRPr lang="en-SG" sz="2800" b="1" dirty="0">
              <a:solidFill>
                <a:schemeClr val="bg1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0474ACC-66AB-1790-86D8-5E2EAB71BB58}"/>
              </a:ext>
            </a:extLst>
          </p:cNvPr>
          <p:cNvSpPr/>
          <p:nvPr/>
        </p:nvSpPr>
        <p:spPr>
          <a:xfrm>
            <a:off x="255985" y="2613474"/>
            <a:ext cx="1371600" cy="2286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916ED8-3DDD-8DB6-E6B9-CB897BA63980}"/>
              </a:ext>
            </a:extLst>
          </p:cNvPr>
          <p:cNvSpPr txBox="1"/>
          <p:nvPr/>
        </p:nvSpPr>
        <p:spPr>
          <a:xfrm>
            <a:off x="332185" y="2776940"/>
            <a:ext cx="1219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600" dirty="0"/>
              <a:t>Financials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BF7DEF-A7C0-BAED-9A95-8A368FC7D490}"/>
              </a:ext>
            </a:extLst>
          </p:cNvPr>
          <p:cNvSpPr txBox="1"/>
          <p:nvPr/>
        </p:nvSpPr>
        <p:spPr>
          <a:xfrm>
            <a:off x="332185" y="3976525"/>
            <a:ext cx="1219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600" dirty="0"/>
              <a:t>Clickstream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50BC9D-334E-5229-90CA-82E36F5C5DF9}"/>
              </a:ext>
            </a:extLst>
          </p:cNvPr>
          <p:cNvSpPr txBox="1"/>
          <p:nvPr/>
        </p:nvSpPr>
        <p:spPr>
          <a:xfrm>
            <a:off x="332185" y="3376732"/>
            <a:ext cx="1219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600" dirty="0"/>
              <a:t>Attributes</a:t>
            </a:r>
          </a:p>
        </p:txBody>
      </p:sp>
      <p:sp>
        <p:nvSpPr>
          <p:cNvPr id="10" name="Cylinder 9">
            <a:extLst>
              <a:ext uri="{FF2B5EF4-FFF2-40B4-BE49-F238E27FC236}">
                <a16:creationId xmlns:a16="http://schemas.microsoft.com/office/drawing/2014/main" id="{6AB10EFF-E01B-DF70-5EB6-4F8301642788}"/>
              </a:ext>
            </a:extLst>
          </p:cNvPr>
          <p:cNvSpPr/>
          <p:nvPr/>
        </p:nvSpPr>
        <p:spPr>
          <a:xfrm>
            <a:off x="2084785" y="2651573"/>
            <a:ext cx="2895600" cy="2209801"/>
          </a:xfrm>
          <a:prstGeom prst="can">
            <a:avLst>
              <a:gd name="adj" fmla="val 11345"/>
            </a:avLst>
          </a:prstGeom>
          <a:solidFill>
            <a:srgbClr val="DCD4C6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A9288F6-4454-CDB4-CF9C-CCA04C55BE6D}"/>
              </a:ext>
            </a:extLst>
          </p:cNvPr>
          <p:cNvSpPr txBox="1"/>
          <p:nvPr/>
        </p:nvSpPr>
        <p:spPr>
          <a:xfrm>
            <a:off x="332185" y="2067067"/>
            <a:ext cx="1219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600" b="1" dirty="0"/>
              <a:t>Data Source</a:t>
            </a:r>
          </a:p>
          <a:p>
            <a:pPr algn="ctr"/>
            <a:r>
              <a:rPr lang="en-SG" sz="1600" b="1" dirty="0"/>
              <a:t>csv files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EAF4AC9-672B-A8B7-6026-C157E9BC6D70}"/>
              </a:ext>
            </a:extLst>
          </p:cNvPr>
          <p:cNvSpPr txBox="1"/>
          <p:nvPr/>
        </p:nvSpPr>
        <p:spPr>
          <a:xfrm>
            <a:off x="2084785" y="2045118"/>
            <a:ext cx="25999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600" b="1" dirty="0"/>
              <a:t>Bronze: </a:t>
            </a:r>
            <a:r>
              <a:rPr lang="en-SG" sz="1600" b="1" dirty="0" err="1"/>
              <a:t>datamart</a:t>
            </a:r>
            <a:r>
              <a:rPr lang="en-SG" sz="1600" b="1" dirty="0"/>
              <a:t>/bronze/</a:t>
            </a:r>
          </a:p>
          <a:p>
            <a:pPr algn="ctr"/>
            <a:r>
              <a:rPr lang="en-SG" sz="1600" b="1" dirty="0"/>
              <a:t>csv files</a:t>
            </a:r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1784B05B-3517-6AF3-2368-C62425D8EC6B}"/>
              </a:ext>
            </a:extLst>
          </p:cNvPr>
          <p:cNvSpPr/>
          <p:nvPr/>
        </p:nvSpPr>
        <p:spPr>
          <a:xfrm>
            <a:off x="1682957" y="3603264"/>
            <a:ext cx="347472" cy="484632"/>
          </a:xfrm>
          <a:prstGeom prst="rightArrow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E1A1918-61D0-92A1-E853-928C44F4F1A7}"/>
              </a:ext>
            </a:extLst>
          </p:cNvPr>
          <p:cNvSpPr txBox="1"/>
          <p:nvPr/>
        </p:nvSpPr>
        <p:spPr>
          <a:xfrm>
            <a:off x="332185" y="4437999"/>
            <a:ext cx="1219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600" dirty="0"/>
              <a:t>Loan Data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1CCFB52-3D52-EBDD-BDDD-3A34A2DFE9B4}"/>
              </a:ext>
            </a:extLst>
          </p:cNvPr>
          <p:cNvSpPr txBox="1"/>
          <p:nvPr/>
        </p:nvSpPr>
        <p:spPr>
          <a:xfrm>
            <a:off x="2066497" y="2964766"/>
            <a:ext cx="2743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600" dirty="0"/>
              <a:t>Features/</a:t>
            </a:r>
            <a:r>
              <a:rPr lang="en-SG" sz="1600" dirty="0" err="1"/>
              <a:t>features_financials</a:t>
            </a:r>
            <a:r>
              <a:rPr lang="en-SG" sz="1600" dirty="0"/>
              <a:t>/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0414AF2-EF89-82B8-F7FE-A388EA52F74B}"/>
              </a:ext>
            </a:extLst>
          </p:cNvPr>
          <p:cNvSpPr txBox="1"/>
          <p:nvPr/>
        </p:nvSpPr>
        <p:spPr>
          <a:xfrm>
            <a:off x="2828497" y="4510638"/>
            <a:ext cx="1219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600" dirty="0" err="1"/>
              <a:t>lms</a:t>
            </a:r>
            <a:r>
              <a:rPr lang="en-SG" sz="1600" dirty="0"/>
              <a:t>/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0ADE22B-039F-93EA-3DF9-DFF399FE4848}"/>
              </a:ext>
            </a:extLst>
          </p:cNvPr>
          <p:cNvSpPr txBox="1"/>
          <p:nvPr/>
        </p:nvSpPr>
        <p:spPr>
          <a:xfrm>
            <a:off x="2066497" y="3423259"/>
            <a:ext cx="2743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600" dirty="0"/>
              <a:t>Features/</a:t>
            </a:r>
            <a:r>
              <a:rPr lang="en-SG" sz="1600" dirty="0" err="1"/>
              <a:t>features_attributes</a:t>
            </a:r>
            <a:r>
              <a:rPr lang="en-SG" sz="1600" dirty="0"/>
              <a:t>/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F33836A-7317-496A-C345-393128484EDE}"/>
              </a:ext>
            </a:extLst>
          </p:cNvPr>
          <p:cNvSpPr txBox="1"/>
          <p:nvPr/>
        </p:nvSpPr>
        <p:spPr>
          <a:xfrm>
            <a:off x="2066497" y="3906095"/>
            <a:ext cx="2913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600" dirty="0"/>
              <a:t>Features/</a:t>
            </a:r>
            <a:r>
              <a:rPr lang="en-SG" sz="1600" dirty="0" err="1"/>
              <a:t>features_clickstream</a:t>
            </a:r>
            <a:r>
              <a:rPr lang="en-SG" sz="1600" dirty="0"/>
              <a:t>/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6371FB6B-1A68-9CE1-8E63-73EC1E2C5C2A}"/>
              </a:ext>
            </a:extLst>
          </p:cNvPr>
          <p:cNvSpPr/>
          <p:nvPr/>
        </p:nvSpPr>
        <p:spPr>
          <a:xfrm>
            <a:off x="5386334" y="1127761"/>
            <a:ext cx="523220" cy="52322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2400" b="1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F254375-D5E2-5607-D48E-0B3419FD980F}"/>
              </a:ext>
            </a:extLst>
          </p:cNvPr>
          <p:cNvSpPr txBox="1"/>
          <p:nvPr/>
        </p:nvSpPr>
        <p:spPr>
          <a:xfrm>
            <a:off x="5943600" y="1168258"/>
            <a:ext cx="118872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Objective: Bronze Layer – Data Ingestion and Standardization: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000" dirty="0">
                <a:latin typeface="Arial" panose="020B0604020202020204" pitchFamily="34" charset="0"/>
              </a:rPr>
              <a:t>R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aw data ingestion to consolidate source files for downstream cleaning (silver) and feature engineering (gold).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Captures data exactly as received, unmodified, and traceable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Ensures full auditability and reproducibility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283D8100-77F1-F9DD-1F68-1BD8C2BEDC1B}"/>
              </a:ext>
            </a:extLst>
          </p:cNvPr>
          <p:cNvSpPr/>
          <p:nvPr/>
        </p:nvSpPr>
        <p:spPr>
          <a:xfrm>
            <a:off x="5386334" y="3287455"/>
            <a:ext cx="523220" cy="52322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2400" b="1" dirty="0"/>
              <a:t>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8953B21-538F-1893-3004-38F5D45FE1FA}"/>
              </a:ext>
            </a:extLst>
          </p:cNvPr>
          <p:cNvSpPr txBox="1"/>
          <p:nvPr/>
        </p:nvSpPr>
        <p:spPr>
          <a:xfrm>
            <a:off x="5971032" y="3287455"/>
            <a:ext cx="118872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Method: Data Source (csv files)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sym typeface="Wingdings" panose="05000000000000000000" pitchFamily="2" charset="2"/>
              </a:rPr>
              <a:t> Bronze Datamart (csv files)</a:t>
            </a:r>
            <a:endParaRPr lang="en-US" altLang="en-US" sz="20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000" dirty="0">
                <a:latin typeface="Arial" panose="020B0604020202020204" pitchFamily="34" charset="0"/>
              </a:rPr>
              <a:t>R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aw data ingestion to consolidate source files </a:t>
            </a:r>
            <a:r>
              <a:rPr lang="en-US" altLang="en-US" sz="2000" dirty="0">
                <a:latin typeface="Arial" panose="020B0604020202020204" pitchFamily="34" charset="0"/>
              </a:rPr>
              <a:t>from data source to bronze </a:t>
            </a:r>
            <a:r>
              <a:rPr lang="en-US" altLang="en-US" sz="2000" dirty="0" err="1">
                <a:latin typeface="Arial" panose="020B0604020202020204" pitchFamily="34" charset="0"/>
              </a:rPr>
              <a:t>datamart</a:t>
            </a:r>
            <a:endParaRPr lang="en-US" altLang="en-US" sz="2000" dirty="0"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" panose="020B0604020202020204" pitchFamily="34" charset="0"/>
              </a:rPr>
              <a:t>Append vs Overwrite table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BD70141-274D-7B0F-28E7-FE286A1BCD11}"/>
              </a:ext>
            </a:extLst>
          </p:cNvPr>
          <p:cNvSpPr txBox="1"/>
          <p:nvPr/>
        </p:nvSpPr>
        <p:spPr>
          <a:xfrm>
            <a:off x="5971032" y="4981835"/>
            <a:ext cx="20697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b="1" dirty="0">
                <a:latin typeface="Arial" panose="020B0604020202020204" pitchFamily="34" charset="0"/>
                <a:cs typeface="Arial" panose="020B0604020202020204" pitchFamily="34" charset="0"/>
              </a:rPr>
              <a:t>Load source file</a:t>
            </a:r>
          </a:p>
          <a:p>
            <a:r>
              <a:rPr lang="en-SG" i="1" dirty="0">
                <a:latin typeface="Arial" panose="020B0604020202020204" pitchFamily="34" charset="0"/>
                <a:cs typeface="Arial" panose="020B0604020202020204" pitchFamily="34" charset="0"/>
              </a:rPr>
              <a:t>spark.read.csv(…)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74A11C3-857F-4A8E-E98B-F378F7E26D0B}"/>
              </a:ext>
            </a:extLst>
          </p:cNvPr>
          <p:cNvSpPr txBox="1"/>
          <p:nvPr/>
        </p:nvSpPr>
        <p:spPr>
          <a:xfrm>
            <a:off x="12592246" y="4981834"/>
            <a:ext cx="29161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b="1" dirty="0">
                <a:latin typeface="Arial" panose="020B0604020202020204" pitchFamily="34" charset="0"/>
                <a:cs typeface="Arial" panose="020B0604020202020204" pitchFamily="34" charset="0"/>
              </a:rPr>
              <a:t>Save to Bronze Datamart</a:t>
            </a:r>
          </a:p>
          <a:p>
            <a:r>
              <a:rPr lang="en-SG" i="1" dirty="0" err="1">
                <a:latin typeface="Arial" panose="020B0604020202020204" pitchFamily="34" charset="0"/>
                <a:cs typeface="Arial" panose="020B0604020202020204" pitchFamily="34" charset="0"/>
              </a:rPr>
              <a:t>spark.toPandas.to_csv</a:t>
            </a:r>
            <a:r>
              <a:rPr lang="en-SG" i="1" dirty="0">
                <a:latin typeface="Arial" panose="020B0604020202020204" pitchFamily="34" charset="0"/>
                <a:cs typeface="Arial" panose="020B0604020202020204" pitchFamily="34" charset="0"/>
              </a:rPr>
              <a:t>(…)</a:t>
            </a:r>
          </a:p>
        </p:txBody>
      </p:sp>
      <p:sp>
        <p:nvSpPr>
          <p:cNvPr id="63" name="Arrow: Right 62">
            <a:extLst>
              <a:ext uri="{FF2B5EF4-FFF2-40B4-BE49-F238E27FC236}">
                <a16:creationId xmlns:a16="http://schemas.microsoft.com/office/drawing/2014/main" id="{5AB6A420-942B-D981-B1E8-68604A6481A7}"/>
              </a:ext>
            </a:extLst>
          </p:cNvPr>
          <p:cNvSpPr/>
          <p:nvPr/>
        </p:nvSpPr>
        <p:spPr>
          <a:xfrm>
            <a:off x="8468970" y="5062684"/>
            <a:ext cx="347472" cy="484632"/>
          </a:xfrm>
          <a:prstGeom prst="rightArrow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A714E693-D453-7A1C-31D7-3304FF1678BB}"/>
              </a:ext>
            </a:extLst>
          </p:cNvPr>
          <p:cNvSpPr/>
          <p:nvPr/>
        </p:nvSpPr>
        <p:spPr>
          <a:xfrm>
            <a:off x="1235984" y="7658100"/>
            <a:ext cx="523220" cy="52322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2400" b="1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1A51753-848B-4D35-A463-7C6F4BFA2CA2}"/>
              </a:ext>
            </a:extLst>
          </p:cNvPr>
          <p:cNvSpPr txBox="1"/>
          <p:nvPr/>
        </p:nvSpPr>
        <p:spPr>
          <a:xfrm>
            <a:off x="2133600" y="7658100"/>
            <a:ext cx="15724632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Considerations: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Partitioning by snapshot date for efficient time-based queries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Standardization of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datamart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into separate </a:t>
            </a:r>
            <a:r>
              <a:rPr lang="en-US" altLang="en-US" sz="2000" dirty="0">
                <a:latin typeface="Arial" panose="020B0604020202020204" pitchFamily="34" charset="0"/>
              </a:rPr>
              <a:t>tables (folders) for the 3 types of features and 1 label table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000" dirty="0">
                <a:latin typeface="Arial" panose="020B0604020202020204" pitchFamily="34" charset="0"/>
              </a:rPr>
              <a:t>Append vs Overwrite table. 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Since overwrite table will have 1 row per </a:t>
            </a:r>
            <a:r>
              <a:rPr lang="en-US" altLang="en-US" sz="2000" dirty="0" err="1">
                <a:latin typeface="Arial" panose="020B0604020202020204" pitchFamily="34" charset="0"/>
              </a:rPr>
              <a:t>customer_ID</a:t>
            </a:r>
            <a:r>
              <a:rPr lang="en-US" altLang="en-US" sz="2000" dirty="0">
                <a:latin typeface="Arial" panose="020B0604020202020204" pitchFamily="34" charset="0"/>
              </a:rPr>
              <a:t> only, when filtering by snapshot date, we must keep the previous entries with older </a:t>
            </a:r>
            <a:r>
              <a:rPr lang="en-US" altLang="en-US" sz="2000" dirty="0" err="1">
                <a:latin typeface="Arial" panose="020B0604020202020204" pitchFamily="34" charset="0"/>
              </a:rPr>
              <a:t>snapshot_date</a:t>
            </a:r>
            <a:r>
              <a:rPr lang="en-US" altLang="en-US" sz="2000" dirty="0">
                <a:latin typeface="Arial" panose="020B0604020202020204" pitchFamily="34" charset="0"/>
              </a:rPr>
              <a:t> to ensure all existing customer data are captured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 append table, </a:t>
            </a:r>
            <a:r>
              <a:rPr lang="en-US" altLang="en-US" sz="2000" dirty="0">
                <a:latin typeface="Arial" panose="020B0604020202020204" pitchFamily="34" charset="0"/>
              </a:rPr>
              <a:t>each snapshot adds new roles for existing customers in the same </a:t>
            </a:r>
            <a:r>
              <a:rPr lang="en-US" altLang="en-US" sz="2000" dirty="0" err="1">
                <a:latin typeface="Arial" panose="020B0604020202020204" pitchFamily="34" charset="0"/>
              </a:rPr>
              <a:t>snapshot_date</a:t>
            </a:r>
            <a:r>
              <a:rPr lang="en-US" altLang="en-US" sz="2000" dirty="0">
                <a:latin typeface="Arial" panose="020B0604020202020204" pitchFamily="34" charset="0"/>
              </a:rPr>
              <a:t>, hence we can filter by </a:t>
            </a:r>
            <a:r>
              <a:rPr lang="en-US" altLang="en-US" sz="2000" dirty="0" err="1">
                <a:latin typeface="Arial" panose="020B0604020202020204" pitchFamily="34" charset="0"/>
              </a:rPr>
              <a:t>snapshot_date</a:t>
            </a:r>
            <a:r>
              <a:rPr lang="en-US" altLang="en-US" sz="2000" dirty="0">
                <a:latin typeface="Arial" panose="020B0604020202020204" pitchFamily="34" charset="0"/>
              </a:rPr>
              <a:t> exactly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8FDF700-322F-4B26-A682-F36E577B45E4}"/>
              </a:ext>
            </a:extLst>
          </p:cNvPr>
          <p:cNvSpPr txBox="1"/>
          <p:nvPr/>
        </p:nvSpPr>
        <p:spPr>
          <a:xfrm>
            <a:off x="8968937" y="4981835"/>
            <a:ext cx="29944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1" dirty="0">
                <a:latin typeface="Arial" panose="020B0604020202020204" pitchFamily="34" charset="0"/>
                <a:cs typeface="Arial" panose="020B0604020202020204" pitchFamily="34" charset="0"/>
              </a:rPr>
              <a:t>Filter by snapshot date</a:t>
            </a:r>
          </a:p>
          <a:p>
            <a:r>
              <a:rPr lang="en-SG" i="1" dirty="0">
                <a:latin typeface="Arial" panose="020B0604020202020204" pitchFamily="34" charset="0"/>
                <a:cs typeface="Arial" panose="020B0604020202020204" pitchFamily="34" charset="0"/>
              </a:rPr>
              <a:t>.filter(col('</a:t>
            </a:r>
            <a:r>
              <a:rPr lang="en-SG" i="1" dirty="0" err="1">
                <a:latin typeface="Arial" panose="020B0604020202020204" pitchFamily="34" charset="0"/>
                <a:cs typeface="Arial" panose="020B0604020202020204" pitchFamily="34" charset="0"/>
              </a:rPr>
              <a:t>snapshot_date</a:t>
            </a:r>
            <a:r>
              <a:rPr lang="en-SG" i="1" dirty="0">
                <a:latin typeface="Arial" panose="020B0604020202020204" pitchFamily="34" charset="0"/>
                <a:cs typeface="Arial" panose="020B0604020202020204" pitchFamily="34" charset="0"/>
              </a:rPr>
              <a:t>') == </a:t>
            </a:r>
            <a:r>
              <a:rPr lang="en-SG" i="1" dirty="0" err="1">
                <a:latin typeface="Arial" panose="020B0604020202020204" pitchFamily="34" charset="0"/>
                <a:cs typeface="Arial" panose="020B0604020202020204" pitchFamily="34" charset="0"/>
              </a:rPr>
              <a:t>snapshot_date</a:t>
            </a:r>
            <a:r>
              <a:rPr lang="en-SG" i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67" name="Arrow: Right 66">
            <a:extLst>
              <a:ext uri="{FF2B5EF4-FFF2-40B4-BE49-F238E27FC236}">
                <a16:creationId xmlns:a16="http://schemas.microsoft.com/office/drawing/2014/main" id="{2BDFF471-0338-1BA1-2F1A-5D6E24762EC4}"/>
              </a:ext>
            </a:extLst>
          </p:cNvPr>
          <p:cNvSpPr/>
          <p:nvPr/>
        </p:nvSpPr>
        <p:spPr>
          <a:xfrm>
            <a:off x="11904443" y="5062684"/>
            <a:ext cx="347472" cy="484632"/>
          </a:xfrm>
          <a:prstGeom prst="rightArrow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8F63771-1FB0-DE6C-329D-D2946F8E454A}"/>
              </a:ext>
            </a:extLst>
          </p:cNvPr>
          <p:cNvSpPr txBox="1"/>
          <p:nvPr/>
        </p:nvSpPr>
        <p:spPr>
          <a:xfrm>
            <a:off x="6705600" y="4439319"/>
            <a:ext cx="9144000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b="1" dirty="0">
                <a:latin typeface="Arial" panose="020B0604020202020204" pitchFamily="34" charset="0"/>
              </a:rPr>
              <a:t>Append Table (clickstream): New data appended as new rows to the table</a:t>
            </a:r>
            <a:endParaRPr lang="en-SG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C66C731-0E7A-3598-E296-BCEBDC2D3154}"/>
              </a:ext>
            </a:extLst>
          </p:cNvPr>
          <p:cNvSpPr txBox="1"/>
          <p:nvPr/>
        </p:nvSpPr>
        <p:spPr>
          <a:xfrm>
            <a:off x="5971032" y="6635911"/>
            <a:ext cx="20697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b="1" dirty="0">
                <a:latin typeface="Arial" panose="020B0604020202020204" pitchFamily="34" charset="0"/>
                <a:cs typeface="Arial" panose="020B0604020202020204" pitchFamily="34" charset="0"/>
              </a:rPr>
              <a:t>Load source file</a:t>
            </a:r>
          </a:p>
          <a:p>
            <a:r>
              <a:rPr lang="en-SG" i="1" dirty="0">
                <a:latin typeface="Arial" panose="020B0604020202020204" pitchFamily="34" charset="0"/>
                <a:cs typeface="Arial" panose="020B0604020202020204" pitchFamily="34" charset="0"/>
              </a:rPr>
              <a:t>spark.read.csv(…)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2D5A312-2C19-258A-EEAF-34ADC126E306}"/>
              </a:ext>
            </a:extLst>
          </p:cNvPr>
          <p:cNvSpPr txBox="1"/>
          <p:nvPr/>
        </p:nvSpPr>
        <p:spPr>
          <a:xfrm>
            <a:off x="12592246" y="6635910"/>
            <a:ext cx="29161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b="1" dirty="0">
                <a:latin typeface="Arial" panose="020B0604020202020204" pitchFamily="34" charset="0"/>
                <a:cs typeface="Arial" panose="020B0604020202020204" pitchFamily="34" charset="0"/>
              </a:rPr>
              <a:t>Save to Bronze Datamart</a:t>
            </a:r>
          </a:p>
          <a:p>
            <a:r>
              <a:rPr lang="en-SG" i="1" dirty="0" err="1">
                <a:latin typeface="Arial" panose="020B0604020202020204" pitchFamily="34" charset="0"/>
                <a:cs typeface="Arial" panose="020B0604020202020204" pitchFamily="34" charset="0"/>
              </a:rPr>
              <a:t>spark.toPandas.to_csv</a:t>
            </a:r>
            <a:r>
              <a:rPr lang="en-SG" i="1" dirty="0">
                <a:latin typeface="Arial" panose="020B0604020202020204" pitchFamily="34" charset="0"/>
                <a:cs typeface="Arial" panose="020B0604020202020204" pitchFamily="34" charset="0"/>
              </a:rPr>
              <a:t>(…)</a:t>
            </a:r>
          </a:p>
        </p:txBody>
      </p:sp>
      <p:sp>
        <p:nvSpPr>
          <p:cNvPr id="72" name="Arrow: Right 71">
            <a:extLst>
              <a:ext uri="{FF2B5EF4-FFF2-40B4-BE49-F238E27FC236}">
                <a16:creationId xmlns:a16="http://schemas.microsoft.com/office/drawing/2014/main" id="{22EF04E0-8F54-22E4-CBFA-BD0D946C6CF1}"/>
              </a:ext>
            </a:extLst>
          </p:cNvPr>
          <p:cNvSpPr/>
          <p:nvPr/>
        </p:nvSpPr>
        <p:spPr>
          <a:xfrm>
            <a:off x="8468970" y="6716760"/>
            <a:ext cx="347472" cy="484632"/>
          </a:xfrm>
          <a:prstGeom prst="rightArrow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F43323A-FF53-DB3E-658A-C22A1467705F}"/>
              </a:ext>
            </a:extLst>
          </p:cNvPr>
          <p:cNvSpPr txBox="1"/>
          <p:nvPr/>
        </p:nvSpPr>
        <p:spPr>
          <a:xfrm>
            <a:off x="8968937" y="6635911"/>
            <a:ext cx="29944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1" dirty="0">
                <a:latin typeface="Arial" panose="020B0604020202020204" pitchFamily="34" charset="0"/>
                <a:cs typeface="Arial" panose="020B0604020202020204" pitchFamily="34" charset="0"/>
              </a:rPr>
              <a:t>Filter by snapshot date</a:t>
            </a:r>
          </a:p>
          <a:p>
            <a:r>
              <a:rPr lang="en-SG" i="1" dirty="0">
                <a:latin typeface="Arial" panose="020B0604020202020204" pitchFamily="34" charset="0"/>
                <a:cs typeface="Arial" panose="020B0604020202020204" pitchFamily="34" charset="0"/>
              </a:rPr>
              <a:t>.filter(col('</a:t>
            </a:r>
            <a:r>
              <a:rPr lang="en-SG" i="1" dirty="0" err="1">
                <a:latin typeface="Arial" panose="020B0604020202020204" pitchFamily="34" charset="0"/>
                <a:cs typeface="Arial" panose="020B0604020202020204" pitchFamily="34" charset="0"/>
              </a:rPr>
              <a:t>snapshot_date</a:t>
            </a:r>
            <a:r>
              <a:rPr lang="en-SG" i="1" dirty="0">
                <a:latin typeface="Arial" panose="020B0604020202020204" pitchFamily="34" charset="0"/>
                <a:cs typeface="Arial" panose="020B0604020202020204" pitchFamily="34" charset="0"/>
              </a:rPr>
              <a:t>’) &lt;= </a:t>
            </a:r>
            <a:r>
              <a:rPr lang="en-SG" i="1" dirty="0" err="1">
                <a:latin typeface="Arial" panose="020B0604020202020204" pitchFamily="34" charset="0"/>
                <a:cs typeface="Arial" panose="020B0604020202020204" pitchFamily="34" charset="0"/>
              </a:rPr>
              <a:t>snapshot_date</a:t>
            </a:r>
            <a:r>
              <a:rPr lang="en-SG" i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74" name="Arrow: Right 73">
            <a:extLst>
              <a:ext uri="{FF2B5EF4-FFF2-40B4-BE49-F238E27FC236}">
                <a16:creationId xmlns:a16="http://schemas.microsoft.com/office/drawing/2014/main" id="{72A1DFD6-5FAB-CBCE-BBC0-386CA21FD310}"/>
              </a:ext>
            </a:extLst>
          </p:cNvPr>
          <p:cNvSpPr/>
          <p:nvPr/>
        </p:nvSpPr>
        <p:spPr>
          <a:xfrm>
            <a:off x="11904443" y="6716760"/>
            <a:ext cx="347472" cy="484632"/>
          </a:xfrm>
          <a:prstGeom prst="rightArrow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AE6C536-F193-D60F-3012-BBDEE9612C42}"/>
              </a:ext>
            </a:extLst>
          </p:cNvPr>
          <p:cNvSpPr txBox="1"/>
          <p:nvPr/>
        </p:nvSpPr>
        <p:spPr>
          <a:xfrm>
            <a:off x="6705600" y="6093395"/>
            <a:ext cx="9144000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b="1" dirty="0">
                <a:latin typeface="Arial" panose="020B0604020202020204" pitchFamily="34" charset="0"/>
              </a:rPr>
              <a:t>Overwrite Table (financials &amp; attributes): If customer exists, overwrite existing row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825540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ED0E5-59DA-EA27-9929-B8402627A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62F6124-130A-7749-3AE9-35E0CB625A1E}"/>
              </a:ext>
            </a:extLst>
          </p:cNvPr>
          <p:cNvSpPr/>
          <p:nvPr/>
        </p:nvSpPr>
        <p:spPr>
          <a:xfrm>
            <a:off x="0" y="9058"/>
            <a:ext cx="18288000" cy="79104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A0F8B8F-4F34-6326-79CE-98B06F121EB8}"/>
              </a:ext>
            </a:extLst>
          </p:cNvPr>
          <p:cNvSpPr/>
          <p:nvPr/>
        </p:nvSpPr>
        <p:spPr>
          <a:xfrm>
            <a:off x="0" y="9058"/>
            <a:ext cx="3124200" cy="791042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Silver Layer</a:t>
            </a:r>
            <a:endParaRPr lang="en-SG" sz="24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85DE84-000F-61E8-ED96-568F1D824891}"/>
              </a:ext>
            </a:extLst>
          </p:cNvPr>
          <p:cNvSpPr txBox="1"/>
          <p:nvPr/>
        </p:nvSpPr>
        <p:spPr>
          <a:xfrm>
            <a:off x="3276600" y="142969"/>
            <a:ext cx="11125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Predicting Loan Default Risk using Medallion Data Pipeline</a:t>
            </a:r>
            <a:endParaRPr lang="en-SG" sz="2800" b="1" dirty="0">
              <a:solidFill>
                <a:schemeClr val="bg1"/>
              </a:solidFill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AD77E9B5-82D4-2F5B-0B50-8103BB50D2E7}"/>
              </a:ext>
            </a:extLst>
          </p:cNvPr>
          <p:cNvSpPr/>
          <p:nvPr/>
        </p:nvSpPr>
        <p:spPr>
          <a:xfrm>
            <a:off x="204734" y="922439"/>
            <a:ext cx="523220" cy="52322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2400" b="1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1032FC6-6415-3B82-E848-2F5FBEAC86F4}"/>
              </a:ext>
            </a:extLst>
          </p:cNvPr>
          <p:cNvSpPr txBox="1"/>
          <p:nvPr/>
        </p:nvSpPr>
        <p:spPr>
          <a:xfrm>
            <a:off x="762000" y="962936"/>
            <a:ext cx="118872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Objective: Silver Layer – Data Cleaning: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000" dirty="0">
                <a:latin typeface="Arial" panose="020B0604020202020204" pitchFamily="34" charset="0"/>
              </a:rPr>
              <a:t>Transforms raw Bronze data into clean, consistent, and analysis-ready datasets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000" dirty="0">
                <a:latin typeface="Arial" panose="020B0604020202020204" pitchFamily="34" charset="0"/>
              </a:rPr>
              <a:t>Remove noise and inconsistencies from raw inputs.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000" dirty="0">
                <a:latin typeface="Arial" panose="020B0604020202020204" pitchFamily="34" charset="0"/>
              </a:rPr>
              <a:t>Ensure column-level data validity and completeness.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000" dirty="0">
                <a:latin typeface="Arial" panose="020B0604020202020204" pitchFamily="34" charset="0"/>
              </a:rPr>
              <a:t>Create one cleaned dataset per source type (financial, clickstream, attributes).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1D0DB20A-D7CC-78CF-7AE3-C5CFC372662D}"/>
              </a:ext>
            </a:extLst>
          </p:cNvPr>
          <p:cNvSpPr/>
          <p:nvPr/>
        </p:nvSpPr>
        <p:spPr>
          <a:xfrm>
            <a:off x="204734" y="3082133"/>
            <a:ext cx="523220" cy="52322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2400" b="1" dirty="0"/>
              <a:t>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C4935A8-A805-ED33-5368-8E8101762F4D}"/>
              </a:ext>
            </a:extLst>
          </p:cNvPr>
          <p:cNvSpPr txBox="1"/>
          <p:nvPr/>
        </p:nvSpPr>
        <p:spPr>
          <a:xfrm>
            <a:off x="789432" y="3082133"/>
            <a:ext cx="118872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Method: Bronze Datamart (csv files)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sym typeface="Wingdings" panose="05000000000000000000" pitchFamily="2" charset="2"/>
              </a:rPr>
              <a:t> Silver Datamart (parquet files). 1 Folder per Table</a:t>
            </a:r>
            <a:endParaRPr lang="en-US" altLang="en-US" sz="20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CA5963CD-8694-8598-61D5-EBA8CE8D3784}"/>
              </a:ext>
            </a:extLst>
          </p:cNvPr>
          <p:cNvSpPr/>
          <p:nvPr/>
        </p:nvSpPr>
        <p:spPr>
          <a:xfrm>
            <a:off x="473984" y="7500023"/>
            <a:ext cx="523220" cy="52322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2400" b="1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0981DED-25E4-4C6C-A847-6946E153B565}"/>
              </a:ext>
            </a:extLst>
          </p:cNvPr>
          <p:cNvSpPr txBox="1"/>
          <p:nvPr/>
        </p:nvSpPr>
        <p:spPr>
          <a:xfrm>
            <a:off x="1371600" y="7500023"/>
            <a:ext cx="1572463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Considerations: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Validity checks: regular expression and trimming to handle incorrect input values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000" dirty="0">
                <a:latin typeface="Arial" panose="020B0604020202020204" pitchFamily="34" charset="0"/>
              </a:rPr>
              <a:t>Missing values and imputations: proper default values handling and imputation to ensure no missing data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Outlier treatment: ensure no extreme values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000" dirty="0">
                <a:latin typeface="Arial" panose="020B0604020202020204" pitchFamily="34" charset="0"/>
              </a:rPr>
              <a:t>Categorical variables: proper handling of indicator/binary variable to ensure downstream models can use such data (e.g. linear regression must have 1 hot encoding for nominal categorical variables rather than integer values)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21E647D-4FBD-ACF0-4C9E-AA69BDCBD7C0}"/>
              </a:ext>
            </a:extLst>
          </p:cNvPr>
          <p:cNvSpPr txBox="1"/>
          <p:nvPr/>
        </p:nvSpPr>
        <p:spPr>
          <a:xfrm>
            <a:off x="381000" y="4262611"/>
            <a:ext cx="1752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b="1" dirty="0">
                <a:latin typeface="Arial" panose="020B0604020202020204" pitchFamily="34" charset="0"/>
                <a:cs typeface="Arial" panose="020B0604020202020204" pitchFamily="34" charset="0"/>
              </a:rPr>
              <a:t>Schema Enforcement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A2060F3-5BE0-A547-3E98-E0466AECEC1B}"/>
              </a:ext>
            </a:extLst>
          </p:cNvPr>
          <p:cNvSpPr txBox="1"/>
          <p:nvPr/>
        </p:nvSpPr>
        <p:spPr>
          <a:xfrm>
            <a:off x="3429000" y="4174757"/>
            <a:ext cx="2133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b="1" dirty="0">
                <a:latin typeface="Arial" panose="020B0604020202020204" pitchFamily="34" charset="0"/>
                <a:cs typeface="Arial" panose="020B0604020202020204" pitchFamily="34" charset="0"/>
              </a:rPr>
              <a:t>Null / Placeholder / Invalid Characters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F84D8EB-CAEE-E6EE-E849-56F40F0B0F2F}"/>
              </a:ext>
            </a:extLst>
          </p:cNvPr>
          <p:cNvSpPr txBox="1"/>
          <p:nvPr/>
        </p:nvSpPr>
        <p:spPr>
          <a:xfrm>
            <a:off x="6970298" y="4020748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b="1" dirty="0">
                <a:latin typeface="Arial" panose="020B0604020202020204" pitchFamily="34" charset="0"/>
                <a:cs typeface="Arial" panose="020B0604020202020204" pitchFamily="34" charset="0"/>
              </a:rPr>
              <a:t>Numerical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B926A52-0578-534B-4FBC-AFD85FE16539}"/>
              </a:ext>
            </a:extLst>
          </p:cNvPr>
          <p:cNvSpPr txBox="1"/>
          <p:nvPr/>
        </p:nvSpPr>
        <p:spPr>
          <a:xfrm>
            <a:off x="6970298" y="4867444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b="1" dirty="0">
                <a:latin typeface="Arial" panose="020B0604020202020204" pitchFamily="34" charset="0"/>
                <a:cs typeface="Arial" panose="020B0604020202020204" pitchFamily="34" charset="0"/>
              </a:rPr>
              <a:t>Categorical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10C468D-CD6E-43E2-9D16-9108390EB48F}"/>
              </a:ext>
            </a:extLst>
          </p:cNvPr>
          <p:cNvSpPr txBox="1"/>
          <p:nvPr/>
        </p:nvSpPr>
        <p:spPr>
          <a:xfrm>
            <a:off x="6987580" y="5886985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b="1" dirty="0">
                <a:latin typeface="Arial" panose="020B0604020202020204" pitchFamily="34" charset="0"/>
                <a:cs typeface="Arial" panose="020B0604020202020204" pitchFamily="34" charset="0"/>
              </a:rPr>
              <a:t>Imputations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68DADD3-EBB6-1730-A5D2-E6B6CC7BAECA}"/>
              </a:ext>
            </a:extLst>
          </p:cNvPr>
          <p:cNvSpPr txBox="1"/>
          <p:nvPr/>
        </p:nvSpPr>
        <p:spPr>
          <a:xfrm>
            <a:off x="204734" y="5448478"/>
            <a:ext cx="261466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dirty="0"/>
              <a:t>Enforce correct datatypes for each columns</a:t>
            </a:r>
          </a:p>
          <a:p>
            <a:r>
              <a:rPr lang="en-SG" sz="1600" dirty="0"/>
              <a:t>(e.g. float, int, str, date)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E2A19C8-BAF5-E98A-A67B-AA7813C98F6C}"/>
              </a:ext>
            </a:extLst>
          </p:cNvPr>
          <p:cNvSpPr txBox="1"/>
          <p:nvPr/>
        </p:nvSpPr>
        <p:spPr>
          <a:xfrm>
            <a:off x="3080133" y="5448478"/>
            <a:ext cx="3288534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600" dirty="0"/>
              <a:t>Strip leading and trailing unwanted characters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600" dirty="0"/>
              <a:t>Replace default values and missing with standardized placeholder values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600" dirty="0"/>
              <a:t>String to numeric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0A8F052-4E7D-CB90-F5D5-4FA5FEFFFFB7}"/>
              </a:ext>
            </a:extLst>
          </p:cNvPr>
          <p:cNvSpPr txBox="1"/>
          <p:nvPr/>
        </p:nvSpPr>
        <p:spPr>
          <a:xfrm>
            <a:off x="9408698" y="3936895"/>
            <a:ext cx="8305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600" dirty="0"/>
              <a:t>Outlier floor and ceil to bounded values (e.g. age)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600" dirty="0"/>
              <a:t>String to value (e.g. credit history age Years and Months </a:t>
            </a:r>
            <a:r>
              <a:rPr lang="en-SG" sz="1600" dirty="0">
                <a:sym typeface="Wingdings" panose="05000000000000000000" pitchFamily="2" charset="2"/>
              </a:rPr>
              <a:t> months as int)</a:t>
            </a:r>
            <a:endParaRPr lang="en-SG" sz="16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534444C-92C7-38F2-CE25-2884FB05E788}"/>
              </a:ext>
            </a:extLst>
          </p:cNvPr>
          <p:cNvSpPr txBox="1"/>
          <p:nvPr/>
        </p:nvSpPr>
        <p:spPr>
          <a:xfrm>
            <a:off x="9408698" y="4803106"/>
            <a:ext cx="89688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600" dirty="0"/>
              <a:t>Binary/Nominal variables (e.g. spend level low/med/high </a:t>
            </a:r>
            <a:r>
              <a:rPr lang="en-SG" sz="1600" dirty="0">
                <a:sym typeface="Wingdings" panose="05000000000000000000" pitchFamily="2" charset="2"/>
              </a:rPr>
              <a:t> 0/1/2)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600" dirty="0">
                <a:sym typeface="Wingdings" panose="05000000000000000000" pitchFamily="2" charset="2"/>
              </a:rPr>
              <a:t>Explode groups into individual indicator variable (loan type can have 1 or more groups in the same string  convert to 1 column per loan type with 0 or 1 value)</a:t>
            </a:r>
            <a:endParaRPr lang="en-SG" sz="16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0057B38-D2B0-74F6-CAFC-2F8D3D9AFF62}"/>
              </a:ext>
            </a:extLst>
          </p:cNvPr>
          <p:cNvSpPr txBox="1"/>
          <p:nvPr/>
        </p:nvSpPr>
        <p:spPr>
          <a:xfrm>
            <a:off x="9408698" y="5832239"/>
            <a:ext cx="89688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600" dirty="0"/>
              <a:t>Missing values impute with default 0 values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600" dirty="0"/>
              <a:t>OR impute with average by group (e.g. missing salary impute with occupation mean)</a:t>
            </a:r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B8B8B1B0-451E-0FC8-7695-42FB5840176C}"/>
              </a:ext>
            </a:extLst>
          </p:cNvPr>
          <p:cNvSpPr/>
          <p:nvPr/>
        </p:nvSpPr>
        <p:spPr>
          <a:xfrm>
            <a:off x="2645664" y="4437277"/>
            <a:ext cx="347472" cy="484632"/>
          </a:xfrm>
          <a:prstGeom prst="rightArrow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FDAEE3DF-E4D0-719F-0D0B-CC732268D655}"/>
              </a:ext>
            </a:extLst>
          </p:cNvPr>
          <p:cNvSpPr/>
          <p:nvPr/>
        </p:nvSpPr>
        <p:spPr>
          <a:xfrm>
            <a:off x="6194931" y="4471400"/>
            <a:ext cx="347472" cy="484632"/>
          </a:xfrm>
          <a:prstGeom prst="rightArrow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2" name="Cylinder 41">
            <a:extLst>
              <a:ext uri="{FF2B5EF4-FFF2-40B4-BE49-F238E27FC236}">
                <a16:creationId xmlns:a16="http://schemas.microsoft.com/office/drawing/2014/main" id="{F08EDE90-0264-724D-DA2A-1AFF11B68910}"/>
              </a:ext>
            </a:extLst>
          </p:cNvPr>
          <p:cNvSpPr/>
          <p:nvPr/>
        </p:nvSpPr>
        <p:spPr>
          <a:xfrm>
            <a:off x="12039600" y="1445659"/>
            <a:ext cx="2895600" cy="2209801"/>
          </a:xfrm>
          <a:prstGeom prst="can">
            <a:avLst>
              <a:gd name="adj" fmla="val 11345"/>
            </a:avLst>
          </a:prstGeom>
          <a:solidFill>
            <a:srgbClr val="DCD4C6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1F6F65E-E86B-0A1B-B573-23EBEBF13498}"/>
              </a:ext>
            </a:extLst>
          </p:cNvPr>
          <p:cNvSpPr txBox="1"/>
          <p:nvPr/>
        </p:nvSpPr>
        <p:spPr>
          <a:xfrm>
            <a:off x="12039600" y="839204"/>
            <a:ext cx="25999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600" b="1" dirty="0"/>
              <a:t>Bronze: </a:t>
            </a:r>
            <a:r>
              <a:rPr lang="en-SG" sz="1600" b="1" dirty="0" err="1"/>
              <a:t>datamart</a:t>
            </a:r>
            <a:r>
              <a:rPr lang="en-SG" sz="1600" b="1" dirty="0"/>
              <a:t>/bronze/</a:t>
            </a:r>
          </a:p>
          <a:p>
            <a:pPr algn="ctr"/>
            <a:r>
              <a:rPr lang="en-SG" sz="1600" b="1" dirty="0"/>
              <a:t>csv files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D07E621-EE16-F11B-D891-C617723F063C}"/>
              </a:ext>
            </a:extLst>
          </p:cNvPr>
          <p:cNvSpPr txBox="1"/>
          <p:nvPr/>
        </p:nvSpPr>
        <p:spPr>
          <a:xfrm>
            <a:off x="12021312" y="1758852"/>
            <a:ext cx="2743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600" dirty="0"/>
              <a:t>Features/</a:t>
            </a:r>
            <a:r>
              <a:rPr lang="en-SG" sz="1600" dirty="0" err="1"/>
              <a:t>features_financials</a:t>
            </a:r>
            <a:r>
              <a:rPr lang="en-SG" sz="1600" dirty="0"/>
              <a:t>/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F152059-C567-A609-9A26-1796DD046E4C}"/>
              </a:ext>
            </a:extLst>
          </p:cNvPr>
          <p:cNvSpPr txBox="1"/>
          <p:nvPr/>
        </p:nvSpPr>
        <p:spPr>
          <a:xfrm>
            <a:off x="12783312" y="3219770"/>
            <a:ext cx="1219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600" dirty="0" err="1"/>
              <a:t>lms</a:t>
            </a:r>
            <a:r>
              <a:rPr lang="en-SG" sz="1600" dirty="0"/>
              <a:t>/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2989CE2-12FD-1121-A34E-3758A24F370A}"/>
              </a:ext>
            </a:extLst>
          </p:cNvPr>
          <p:cNvSpPr txBox="1"/>
          <p:nvPr/>
        </p:nvSpPr>
        <p:spPr>
          <a:xfrm>
            <a:off x="12021312" y="2217345"/>
            <a:ext cx="2743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600" dirty="0"/>
              <a:t>Features/</a:t>
            </a:r>
            <a:r>
              <a:rPr lang="en-SG" sz="1600" dirty="0" err="1"/>
              <a:t>features_attributes</a:t>
            </a:r>
            <a:r>
              <a:rPr lang="en-SG" sz="1600" dirty="0"/>
              <a:t>/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79AFBAB-D30B-9216-D683-8BE2B64FD4F0}"/>
              </a:ext>
            </a:extLst>
          </p:cNvPr>
          <p:cNvSpPr txBox="1"/>
          <p:nvPr/>
        </p:nvSpPr>
        <p:spPr>
          <a:xfrm>
            <a:off x="12021312" y="2700181"/>
            <a:ext cx="2913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600" dirty="0"/>
              <a:t>Features/</a:t>
            </a:r>
            <a:r>
              <a:rPr lang="en-SG" sz="1600" dirty="0" err="1"/>
              <a:t>features_clickstream</a:t>
            </a:r>
            <a:r>
              <a:rPr lang="en-SG" sz="1600" dirty="0"/>
              <a:t>/</a:t>
            </a:r>
          </a:p>
        </p:txBody>
      </p:sp>
      <p:sp>
        <p:nvSpPr>
          <p:cNvPr id="51" name="Cylinder 50">
            <a:extLst>
              <a:ext uri="{FF2B5EF4-FFF2-40B4-BE49-F238E27FC236}">
                <a16:creationId xmlns:a16="http://schemas.microsoft.com/office/drawing/2014/main" id="{103FDECE-8B62-A291-058C-DEA53B8D99CA}"/>
              </a:ext>
            </a:extLst>
          </p:cNvPr>
          <p:cNvSpPr/>
          <p:nvPr/>
        </p:nvSpPr>
        <p:spPr>
          <a:xfrm>
            <a:off x="15316200" y="1445659"/>
            <a:ext cx="2895600" cy="2209801"/>
          </a:xfrm>
          <a:prstGeom prst="can">
            <a:avLst>
              <a:gd name="adj" fmla="val 11345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38341B5-48A1-F4B3-ECB5-40ED3832B777}"/>
              </a:ext>
            </a:extLst>
          </p:cNvPr>
          <p:cNvSpPr txBox="1"/>
          <p:nvPr/>
        </p:nvSpPr>
        <p:spPr>
          <a:xfrm>
            <a:off x="15316200" y="839204"/>
            <a:ext cx="25999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600" b="1" dirty="0"/>
              <a:t>Silver: </a:t>
            </a:r>
            <a:r>
              <a:rPr lang="en-SG" sz="1600" b="1" dirty="0" err="1"/>
              <a:t>datamart</a:t>
            </a:r>
            <a:r>
              <a:rPr lang="en-SG" sz="1600" b="1" dirty="0"/>
              <a:t>/silver/</a:t>
            </a:r>
          </a:p>
          <a:p>
            <a:pPr algn="ctr"/>
            <a:r>
              <a:rPr lang="en-SG" sz="1600" b="1" dirty="0"/>
              <a:t>parquet files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478FC39-54EB-14ED-9526-30930F5C573B}"/>
              </a:ext>
            </a:extLst>
          </p:cNvPr>
          <p:cNvSpPr txBox="1"/>
          <p:nvPr/>
        </p:nvSpPr>
        <p:spPr>
          <a:xfrm>
            <a:off x="15297912" y="1758852"/>
            <a:ext cx="2743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600" dirty="0"/>
              <a:t>Features/</a:t>
            </a:r>
            <a:r>
              <a:rPr lang="en-SG" sz="1600" dirty="0" err="1"/>
              <a:t>features_financials</a:t>
            </a:r>
            <a:r>
              <a:rPr lang="en-SG" sz="1600" dirty="0"/>
              <a:t>/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4C78120-77F2-D0B3-4052-B7AFF3E312EF}"/>
              </a:ext>
            </a:extLst>
          </p:cNvPr>
          <p:cNvSpPr txBox="1"/>
          <p:nvPr/>
        </p:nvSpPr>
        <p:spPr>
          <a:xfrm>
            <a:off x="16059912" y="3219770"/>
            <a:ext cx="1219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600" dirty="0" err="1"/>
              <a:t>lms</a:t>
            </a:r>
            <a:r>
              <a:rPr lang="en-SG" sz="1600" dirty="0"/>
              <a:t>/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6BBD16A-2D86-E3A7-A3A5-250EA69476CE}"/>
              </a:ext>
            </a:extLst>
          </p:cNvPr>
          <p:cNvSpPr txBox="1"/>
          <p:nvPr/>
        </p:nvSpPr>
        <p:spPr>
          <a:xfrm>
            <a:off x="15297912" y="2217345"/>
            <a:ext cx="2743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600" dirty="0"/>
              <a:t>Features/</a:t>
            </a:r>
            <a:r>
              <a:rPr lang="en-SG" sz="1600" dirty="0" err="1"/>
              <a:t>features_attributes</a:t>
            </a:r>
            <a:r>
              <a:rPr lang="en-SG" sz="1600" dirty="0"/>
              <a:t>/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04D7002-BA53-E2B0-5A44-522977285653}"/>
              </a:ext>
            </a:extLst>
          </p:cNvPr>
          <p:cNvSpPr txBox="1"/>
          <p:nvPr/>
        </p:nvSpPr>
        <p:spPr>
          <a:xfrm>
            <a:off x="15297912" y="2700181"/>
            <a:ext cx="2913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600" dirty="0"/>
              <a:t>Features/</a:t>
            </a:r>
            <a:r>
              <a:rPr lang="en-SG" sz="1600" dirty="0" err="1"/>
              <a:t>features_clickstream</a:t>
            </a:r>
            <a:r>
              <a:rPr lang="en-SG" sz="1600" dirty="0"/>
              <a:t>/</a:t>
            </a:r>
          </a:p>
        </p:txBody>
      </p:sp>
      <p:sp>
        <p:nvSpPr>
          <p:cNvPr id="57" name="Arrow: Right 56">
            <a:extLst>
              <a:ext uri="{FF2B5EF4-FFF2-40B4-BE49-F238E27FC236}">
                <a16:creationId xmlns:a16="http://schemas.microsoft.com/office/drawing/2014/main" id="{F008487A-6A18-64AD-FBE5-7927FCC42897}"/>
              </a:ext>
            </a:extLst>
          </p:cNvPr>
          <p:cNvSpPr/>
          <p:nvPr/>
        </p:nvSpPr>
        <p:spPr>
          <a:xfrm>
            <a:off x="14968728" y="2324100"/>
            <a:ext cx="347472" cy="484632"/>
          </a:xfrm>
          <a:prstGeom prst="rightArrow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704351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4E1FE-0722-A87D-3C31-8A10F1BA7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F603937-595A-0ED8-1EEE-BE1801320C8D}"/>
              </a:ext>
            </a:extLst>
          </p:cNvPr>
          <p:cNvSpPr/>
          <p:nvPr/>
        </p:nvSpPr>
        <p:spPr>
          <a:xfrm>
            <a:off x="0" y="9058"/>
            <a:ext cx="18288000" cy="79104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A0995A0-261B-24CF-C1C7-E3E80BBE5601}"/>
              </a:ext>
            </a:extLst>
          </p:cNvPr>
          <p:cNvSpPr/>
          <p:nvPr/>
        </p:nvSpPr>
        <p:spPr>
          <a:xfrm>
            <a:off x="0" y="9058"/>
            <a:ext cx="3124200" cy="791042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Gold Layer</a:t>
            </a:r>
            <a:endParaRPr lang="en-SG" sz="24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2F5252-AFE3-D46D-1282-A91F9CFF7030}"/>
              </a:ext>
            </a:extLst>
          </p:cNvPr>
          <p:cNvSpPr txBox="1"/>
          <p:nvPr/>
        </p:nvSpPr>
        <p:spPr>
          <a:xfrm>
            <a:off x="3276600" y="142969"/>
            <a:ext cx="11125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Predicting Loan Default Risk using Medallion Data Pipeline</a:t>
            </a:r>
            <a:endParaRPr lang="en-SG" sz="2800" b="1" dirty="0">
              <a:solidFill>
                <a:schemeClr val="bg1"/>
              </a:solidFill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C308A8B7-DFFB-7A43-1C4D-5EEA23680343}"/>
              </a:ext>
            </a:extLst>
          </p:cNvPr>
          <p:cNvSpPr/>
          <p:nvPr/>
        </p:nvSpPr>
        <p:spPr>
          <a:xfrm>
            <a:off x="204734" y="922439"/>
            <a:ext cx="523220" cy="52322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2400" b="1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D90ABCB-B2DB-C8D5-9E10-FCE4C0B2E462}"/>
              </a:ext>
            </a:extLst>
          </p:cNvPr>
          <p:cNvSpPr txBox="1"/>
          <p:nvPr/>
        </p:nvSpPr>
        <p:spPr>
          <a:xfrm>
            <a:off x="762000" y="962936"/>
            <a:ext cx="118872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Objective: Gold Layer – Feature Engineering and Model Preparation: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000" dirty="0">
                <a:latin typeface="Arial" panose="020B0604020202020204" pitchFamily="34" charset="0"/>
              </a:rPr>
              <a:t>Gold layer combines all Silver tables into a unified, model-ready feature store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000" dirty="0">
                <a:latin typeface="Arial" panose="020B0604020202020204" pitchFamily="34" charset="0"/>
              </a:rPr>
              <a:t>Merge financial, behavioral, and demographic features for each customer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000" dirty="0">
                <a:latin typeface="Arial" panose="020B0604020202020204" pitchFamily="34" charset="0"/>
              </a:rPr>
              <a:t>Engineer features to enable better model training and performance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000" dirty="0">
                <a:latin typeface="Arial" panose="020B0604020202020204" pitchFamily="34" charset="0"/>
              </a:rPr>
              <a:t>Store final dataset in a consistent schema for model training and inference.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30102837-624C-26BF-DB13-F689A435F5A8}"/>
              </a:ext>
            </a:extLst>
          </p:cNvPr>
          <p:cNvSpPr/>
          <p:nvPr/>
        </p:nvSpPr>
        <p:spPr>
          <a:xfrm>
            <a:off x="204734" y="3082133"/>
            <a:ext cx="523220" cy="52322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2400" b="1" dirty="0"/>
              <a:t>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E5A5265-683F-0E67-B856-490429BB807C}"/>
              </a:ext>
            </a:extLst>
          </p:cNvPr>
          <p:cNvSpPr txBox="1"/>
          <p:nvPr/>
        </p:nvSpPr>
        <p:spPr>
          <a:xfrm>
            <a:off x="789432" y="3082133"/>
            <a:ext cx="118872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Method: Silver Datamart (parquet files)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sym typeface="Wingdings" panose="05000000000000000000" pitchFamily="2" charset="2"/>
              </a:rPr>
              <a:t> Gold Datamart (parquet files)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000" dirty="0">
                <a:latin typeface="Arial" panose="020B0604020202020204" pitchFamily="34" charset="0"/>
                <a:sym typeface="Wingdings" panose="05000000000000000000" pitchFamily="2" charset="2"/>
              </a:rPr>
              <a:t>Firstly, join all features in silver layer by customer and snapshot date into 1 table.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000" dirty="0">
                <a:latin typeface="Arial" panose="020B0604020202020204" pitchFamily="34" charset="0"/>
                <a:sym typeface="Wingdings" panose="05000000000000000000" pitchFamily="2" charset="2"/>
              </a:rPr>
              <a:t>Then perform feature engineering</a:t>
            </a:r>
            <a:endParaRPr lang="en-US" altLang="en-US" sz="20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CAC65800-7367-A0B8-2FC7-7E0EB553D585}"/>
              </a:ext>
            </a:extLst>
          </p:cNvPr>
          <p:cNvSpPr/>
          <p:nvPr/>
        </p:nvSpPr>
        <p:spPr>
          <a:xfrm>
            <a:off x="473984" y="8246813"/>
            <a:ext cx="523220" cy="52322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2400" b="1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1F2B744-E177-C0EA-F45A-005073CBACEE}"/>
              </a:ext>
            </a:extLst>
          </p:cNvPr>
          <p:cNvSpPr txBox="1"/>
          <p:nvPr/>
        </p:nvSpPr>
        <p:spPr>
          <a:xfrm>
            <a:off x="1371600" y="8246813"/>
            <a:ext cx="15724632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Considerations: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Joining of features from various silver tables into single gold table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000" dirty="0">
                <a:latin typeface="Arial" panose="020B0604020202020204" pitchFamily="34" charset="0"/>
              </a:rPr>
              <a:t>Engineer features to simplify, enhance, and introduce non-linearity </a:t>
            </a:r>
            <a:r>
              <a:rPr lang="en-US" altLang="en-US" sz="2000" dirty="0">
                <a:latin typeface="Arial" panose="020B0604020202020204" pitchFamily="34" charset="0"/>
                <a:sym typeface="Wingdings" panose="05000000000000000000" pitchFamily="2" charset="2"/>
              </a:rPr>
              <a:t> At this stage, more is better, can use feature importance to subset later on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sym typeface="Wingdings" panose="05000000000000000000" pitchFamily="2" charset="2"/>
              </a:rPr>
              <a:t>Prepare model-specific gold tables </a:t>
            </a:r>
            <a:r>
              <a:rPr lang="en-US" altLang="en-US" sz="2000" dirty="0">
                <a:latin typeface="Arial" panose="020B0604020202020204" pitchFamily="34" charset="0"/>
                <a:sym typeface="Wingdings" panose="05000000000000000000" pitchFamily="2" charset="2"/>
              </a:rPr>
              <a:t>as each model has different needs.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Cylinder 5">
            <a:extLst>
              <a:ext uri="{FF2B5EF4-FFF2-40B4-BE49-F238E27FC236}">
                <a16:creationId xmlns:a16="http://schemas.microsoft.com/office/drawing/2014/main" id="{C1B7EB10-2290-28C4-759A-1CE8BB3B0BEB}"/>
              </a:ext>
            </a:extLst>
          </p:cNvPr>
          <p:cNvSpPr/>
          <p:nvPr/>
        </p:nvSpPr>
        <p:spPr>
          <a:xfrm>
            <a:off x="10058400" y="1489251"/>
            <a:ext cx="2895600" cy="2209801"/>
          </a:xfrm>
          <a:prstGeom prst="can">
            <a:avLst>
              <a:gd name="adj" fmla="val 11345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CE8528-DD2E-EB92-262B-383D2CCCB20A}"/>
              </a:ext>
            </a:extLst>
          </p:cNvPr>
          <p:cNvSpPr txBox="1"/>
          <p:nvPr/>
        </p:nvSpPr>
        <p:spPr>
          <a:xfrm>
            <a:off x="10058400" y="882796"/>
            <a:ext cx="25999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600" b="1" dirty="0"/>
              <a:t>Silver: </a:t>
            </a:r>
            <a:r>
              <a:rPr lang="en-SG" sz="1600" b="1" dirty="0" err="1"/>
              <a:t>datamart</a:t>
            </a:r>
            <a:r>
              <a:rPr lang="en-SG" sz="1600" b="1" dirty="0"/>
              <a:t>/silver/</a:t>
            </a:r>
          </a:p>
          <a:p>
            <a:pPr algn="ctr"/>
            <a:r>
              <a:rPr lang="en-SG" sz="1600" b="1" dirty="0"/>
              <a:t>parquet files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C1A01F-77F2-C827-13A1-A8542438AEDA}"/>
              </a:ext>
            </a:extLst>
          </p:cNvPr>
          <p:cNvSpPr txBox="1"/>
          <p:nvPr/>
        </p:nvSpPr>
        <p:spPr>
          <a:xfrm>
            <a:off x="10040112" y="1802444"/>
            <a:ext cx="2743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600" dirty="0"/>
              <a:t>Features/</a:t>
            </a:r>
            <a:r>
              <a:rPr lang="en-SG" sz="1600" dirty="0" err="1"/>
              <a:t>features_financials</a:t>
            </a:r>
            <a:r>
              <a:rPr lang="en-SG" sz="1600" dirty="0"/>
              <a:t>/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D3AF40-D79F-BE18-2A06-624493A38886}"/>
              </a:ext>
            </a:extLst>
          </p:cNvPr>
          <p:cNvSpPr txBox="1"/>
          <p:nvPr/>
        </p:nvSpPr>
        <p:spPr>
          <a:xfrm>
            <a:off x="10802112" y="3263362"/>
            <a:ext cx="1219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600" dirty="0" err="1"/>
              <a:t>lms</a:t>
            </a:r>
            <a:r>
              <a:rPr lang="en-SG" sz="1600" dirty="0"/>
              <a:t>/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D7C3515-BB70-3A8C-B4CE-471006BEF214}"/>
              </a:ext>
            </a:extLst>
          </p:cNvPr>
          <p:cNvSpPr txBox="1"/>
          <p:nvPr/>
        </p:nvSpPr>
        <p:spPr>
          <a:xfrm>
            <a:off x="10040112" y="2260937"/>
            <a:ext cx="2743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600" dirty="0"/>
              <a:t>Features/</a:t>
            </a:r>
            <a:r>
              <a:rPr lang="en-SG" sz="1600" dirty="0" err="1"/>
              <a:t>features_attributes</a:t>
            </a:r>
            <a:r>
              <a:rPr lang="en-SG" sz="1600" dirty="0"/>
              <a:t>/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0DFF92B-E086-0710-1EF3-A5A0D878DB32}"/>
              </a:ext>
            </a:extLst>
          </p:cNvPr>
          <p:cNvSpPr txBox="1"/>
          <p:nvPr/>
        </p:nvSpPr>
        <p:spPr>
          <a:xfrm>
            <a:off x="10040112" y="2743773"/>
            <a:ext cx="2913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600" dirty="0"/>
              <a:t>Features/</a:t>
            </a:r>
            <a:r>
              <a:rPr lang="en-SG" sz="1600" dirty="0" err="1"/>
              <a:t>features_clickstream</a:t>
            </a:r>
            <a:r>
              <a:rPr lang="en-SG" sz="1600" dirty="0"/>
              <a:t>/</a:t>
            </a:r>
          </a:p>
        </p:txBody>
      </p:sp>
      <p:sp>
        <p:nvSpPr>
          <p:cNvPr id="12" name="Cylinder 11">
            <a:extLst>
              <a:ext uri="{FF2B5EF4-FFF2-40B4-BE49-F238E27FC236}">
                <a16:creationId xmlns:a16="http://schemas.microsoft.com/office/drawing/2014/main" id="{3AA63565-1488-F9D4-0C89-68643041222F}"/>
              </a:ext>
            </a:extLst>
          </p:cNvPr>
          <p:cNvSpPr/>
          <p:nvPr/>
        </p:nvSpPr>
        <p:spPr>
          <a:xfrm>
            <a:off x="13442517" y="1430267"/>
            <a:ext cx="1371600" cy="2209801"/>
          </a:xfrm>
          <a:prstGeom prst="can">
            <a:avLst/>
          </a:prstGeom>
          <a:solidFill>
            <a:srgbClr val="D5DAAA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1AE39E-BE2E-8719-4BF9-147F5CFC779D}"/>
              </a:ext>
            </a:extLst>
          </p:cNvPr>
          <p:cNvSpPr txBox="1"/>
          <p:nvPr/>
        </p:nvSpPr>
        <p:spPr>
          <a:xfrm>
            <a:off x="13323645" y="800100"/>
            <a:ext cx="16093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600" b="1" dirty="0"/>
              <a:t>Gold: </a:t>
            </a:r>
            <a:r>
              <a:rPr lang="en-SG" sz="1600" b="1" dirty="0" err="1"/>
              <a:t>datamart</a:t>
            </a:r>
            <a:r>
              <a:rPr lang="en-SG" sz="1600" b="1" dirty="0"/>
              <a:t>/gold/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475ADC82-3BF1-107A-BD84-22E3A0BA2D49}"/>
              </a:ext>
            </a:extLst>
          </p:cNvPr>
          <p:cNvSpPr/>
          <p:nvPr/>
        </p:nvSpPr>
        <p:spPr>
          <a:xfrm>
            <a:off x="13005976" y="2381958"/>
            <a:ext cx="347472" cy="484632"/>
          </a:xfrm>
          <a:prstGeom prst="rightArrow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05CEF11-8963-8F4C-C520-49080F90E50E}"/>
              </a:ext>
            </a:extLst>
          </p:cNvPr>
          <p:cNvSpPr txBox="1"/>
          <p:nvPr/>
        </p:nvSpPr>
        <p:spPr>
          <a:xfrm>
            <a:off x="13238140" y="2361754"/>
            <a:ext cx="16579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600" dirty="0" err="1"/>
              <a:t>Feature_store</a:t>
            </a:r>
            <a:r>
              <a:rPr lang="en-SG" sz="1600" dirty="0"/>
              <a:t>/</a:t>
            </a:r>
          </a:p>
        </p:txBody>
      </p:sp>
      <p:sp>
        <p:nvSpPr>
          <p:cNvPr id="16" name="Cylinder 15">
            <a:extLst>
              <a:ext uri="{FF2B5EF4-FFF2-40B4-BE49-F238E27FC236}">
                <a16:creationId xmlns:a16="http://schemas.microsoft.com/office/drawing/2014/main" id="{DACDEA1A-C82F-B0AE-EAA1-B2B84CC88DBB}"/>
              </a:ext>
            </a:extLst>
          </p:cNvPr>
          <p:cNvSpPr/>
          <p:nvPr/>
        </p:nvSpPr>
        <p:spPr>
          <a:xfrm>
            <a:off x="16126968" y="1430268"/>
            <a:ext cx="1371600" cy="745650"/>
          </a:xfrm>
          <a:prstGeom prst="can">
            <a:avLst/>
          </a:prstGeom>
          <a:solidFill>
            <a:srgbClr val="D5DAAA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6583532-4B13-096A-55C7-CA1C89577C7B}"/>
              </a:ext>
            </a:extLst>
          </p:cNvPr>
          <p:cNvSpPr txBox="1"/>
          <p:nvPr/>
        </p:nvSpPr>
        <p:spPr>
          <a:xfrm>
            <a:off x="16008096" y="800100"/>
            <a:ext cx="16093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600" b="1" dirty="0" err="1"/>
              <a:t>Gold_model</a:t>
            </a:r>
            <a:r>
              <a:rPr lang="en-SG" sz="1600" b="1" dirty="0"/>
              <a:t>: </a:t>
            </a:r>
            <a:r>
              <a:rPr lang="en-SG" sz="1600" b="1" dirty="0" err="1"/>
              <a:t>datamart</a:t>
            </a:r>
            <a:r>
              <a:rPr lang="en-SG" sz="1600" b="1" dirty="0"/>
              <a:t>/gold/</a:t>
            </a:r>
          </a:p>
        </p:txBody>
      </p:sp>
      <p:sp>
        <p:nvSpPr>
          <p:cNvPr id="18" name="Cylinder 17">
            <a:extLst>
              <a:ext uri="{FF2B5EF4-FFF2-40B4-BE49-F238E27FC236}">
                <a16:creationId xmlns:a16="http://schemas.microsoft.com/office/drawing/2014/main" id="{05B06596-1C6D-009F-B3F1-5D9B318321B2}"/>
              </a:ext>
            </a:extLst>
          </p:cNvPr>
          <p:cNvSpPr/>
          <p:nvPr/>
        </p:nvSpPr>
        <p:spPr>
          <a:xfrm>
            <a:off x="16126968" y="2354530"/>
            <a:ext cx="1371600" cy="745650"/>
          </a:xfrm>
          <a:prstGeom prst="can">
            <a:avLst/>
          </a:prstGeom>
          <a:solidFill>
            <a:srgbClr val="D5DAAA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F1E77E9-0625-1F36-6FF2-23E51173AF7C}"/>
                  </a:ext>
                </a:extLst>
              </p:cNvPr>
              <p:cNvSpPr txBox="1"/>
              <p:nvPr/>
            </p:nvSpPr>
            <p:spPr>
              <a:xfrm rot="5400000">
                <a:off x="16694862" y="3308288"/>
                <a:ext cx="42960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sz="2800" b="1" i="1" smtClean="0">
                          <a:latin typeface="Cambria Math" panose="02040503050406030204" pitchFamily="18" charset="0"/>
                        </a:rPr>
                        <m:t>… </m:t>
                      </m:r>
                    </m:oMath>
                  </m:oMathPara>
                </a14:m>
                <a:endParaRPr lang="en-SG" sz="2800" b="1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F1E77E9-0625-1F36-6FF2-23E51173AF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16694862" y="3308288"/>
                <a:ext cx="429605" cy="4308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0B545DAF-56BB-37DC-A5B7-C43A111E3223}"/>
              </a:ext>
            </a:extLst>
          </p:cNvPr>
          <p:cNvSpPr txBox="1"/>
          <p:nvPr/>
        </p:nvSpPr>
        <p:spPr>
          <a:xfrm>
            <a:off x="15441168" y="1704426"/>
            <a:ext cx="2743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600" dirty="0"/>
              <a:t>LR_v1/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AC1763F-44F1-0E36-E33D-29E612163823}"/>
              </a:ext>
            </a:extLst>
          </p:cNvPr>
          <p:cNvSpPr txBox="1"/>
          <p:nvPr/>
        </p:nvSpPr>
        <p:spPr>
          <a:xfrm>
            <a:off x="15441168" y="2615197"/>
            <a:ext cx="2743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600" dirty="0"/>
              <a:t>XGB_v1/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0A5CFCE-EB4A-2CEC-883E-F4B86849E73C}"/>
              </a:ext>
            </a:extLst>
          </p:cNvPr>
          <p:cNvSpPr txBox="1"/>
          <p:nvPr/>
        </p:nvSpPr>
        <p:spPr>
          <a:xfrm>
            <a:off x="512064" y="4299475"/>
            <a:ext cx="16215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SG" altLang="en-US" sz="1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Ratio Metrics</a:t>
            </a:r>
            <a:endParaRPr lang="en-SG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FD847AF-28C1-4B9D-1BEE-412F683E7270}"/>
              </a:ext>
            </a:extLst>
          </p:cNvPr>
          <p:cNvSpPr txBox="1"/>
          <p:nvPr/>
        </p:nvSpPr>
        <p:spPr>
          <a:xfrm>
            <a:off x="5307405" y="4344017"/>
            <a:ext cx="3505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altLang="en-US" sz="1800" b="1" i="1" dirty="0">
                <a:latin typeface="Arial" panose="020B0604020202020204" pitchFamily="34" charset="0"/>
              </a:rPr>
              <a:t>Non-linear Transformations</a:t>
            </a:r>
            <a:endParaRPr lang="en-SG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BA84BC2-32D7-8AED-8470-96E699291470}"/>
              </a:ext>
            </a:extLst>
          </p:cNvPr>
          <p:cNvSpPr txBox="1"/>
          <p:nvPr/>
        </p:nvSpPr>
        <p:spPr>
          <a:xfrm>
            <a:off x="342900" y="6217417"/>
            <a:ext cx="2438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altLang="en-US" sz="1800" b="1" i="1" dirty="0">
                <a:latin typeface="Arial" panose="020B0604020202020204" pitchFamily="34" charset="0"/>
              </a:rPr>
              <a:t>Threshold / Binning</a:t>
            </a:r>
            <a:endParaRPr lang="en-SG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4FD704E-D18C-2E99-BDBA-789666986065}"/>
              </a:ext>
            </a:extLst>
          </p:cNvPr>
          <p:cNvSpPr txBox="1"/>
          <p:nvPr/>
        </p:nvSpPr>
        <p:spPr>
          <a:xfrm>
            <a:off x="12602517" y="4357734"/>
            <a:ext cx="3505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b="1" i="1" dirty="0">
                <a:latin typeface="Arial" panose="020B0604020202020204" pitchFamily="34" charset="0"/>
              </a:rPr>
              <a:t>Model-Specific Gold Tables</a:t>
            </a:r>
            <a:endParaRPr lang="en-SG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F9BBF6A-8652-721E-7690-C6E2F76D368B}"/>
              </a:ext>
            </a:extLst>
          </p:cNvPr>
          <p:cNvSpPr txBox="1"/>
          <p:nvPr/>
        </p:nvSpPr>
        <p:spPr>
          <a:xfrm>
            <a:off x="171848" y="4665733"/>
            <a:ext cx="470495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Taking ratios of variables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Financial meaningful ratios to help prediction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Introduces non-linearity, useful for linear models and XGB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altLang="en-US" sz="1600" dirty="0">
                <a:latin typeface="Arial" panose="020B0604020202020204" pitchFamily="34" charset="0"/>
              </a:rPr>
              <a:t>E.g. Debt-to-income, Dept-per-loan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EE5C060-B274-E867-2DF4-4A113AF5F992}"/>
              </a:ext>
            </a:extLst>
          </p:cNvPr>
          <p:cNvSpPr txBox="1"/>
          <p:nvPr/>
        </p:nvSpPr>
        <p:spPr>
          <a:xfrm>
            <a:off x="10591800" y="4665733"/>
            <a:ext cx="769620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Prepare features by selecting subset for specific model training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E.g. XGB can use larger number of features and even categorical features (without one-hot encoding)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But linear regression need to select and prepare features that are compatible with linear models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E.g. remove perfect multi-collinearity columns (or highly correlated columns)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Create 1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gold_model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table for each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Additionally, after training an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intital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model with a lot of features, based on features importance (e.g. SHAP or high L1 regularization term), we can identify a subset of features to use for the next V2 iteration of the model and so 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SG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00113B4-585A-B63C-6F91-ACCE0BD57026}"/>
              </a:ext>
            </a:extLst>
          </p:cNvPr>
          <p:cNvSpPr txBox="1"/>
          <p:nvPr/>
        </p:nvSpPr>
        <p:spPr>
          <a:xfrm>
            <a:off x="5154168" y="4665733"/>
            <a:ext cx="488594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Log scale: helps with values with long tail distribution (e.g. income, debt)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Square/cube: helps emphasis risk is non-linearly worse for higher debt values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Introduces non-linearity (similar to ratio metrics)</a:t>
            </a:r>
            <a:endParaRPr lang="en-SG" altLang="en-US" sz="1600" dirty="0">
              <a:latin typeface="Arial" panose="020B0604020202020204" pitchFamily="3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15381BF-EDC8-9D39-B719-82F4ABD20193}"/>
              </a:ext>
            </a:extLst>
          </p:cNvPr>
          <p:cNvSpPr txBox="1"/>
          <p:nvPr/>
        </p:nvSpPr>
        <p:spPr>
          <a:xfrm>
            <a:off x="171848" y="6609984"/>
            <a:ext cx="470495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Simplify continuous variables into small number of bins (e.g. age bin to 0,1,2)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altLang="en-US" sz="1600" dirty="0">
                <a:latin typeface="Arial" panose="020B0604020202020204" pitchFamily="34" charset="0"/>
              </a:rPr>
              <a:t>Add threshold to flag out (indicator) based on financial knowledge. E.g. Debt to income ratio exceed certain threshold value</a:t>
            </a:r>
          </a:p>
        </p:txBody>
      </p:sp>
      <p:sp>
        <p:nvSpPr>
          <p:cNvPr id="44" name="Arrow: Right 43">
            <a:extLst>
              <a:ext uri="{FF2B5EF4-FFF2-40B4-BE49-F238E27FC236}">
                <a16:creationId xmlns:a16="http://schemas.microsoft.com/office/drawing/2014/main" id="{7177646F-9276-9477-B949-4C1F61561459}"/>
              </a:ext>
            </a:extLst>
          </p:cNvPr>
          <p:cNvSpPr/>
          <p:nvPr/>
        </p:nvSpPr>
        <p:spPr>
          <a:xfrm>
            <a:off x="15180232" y="2381958"/>
            <a:ext cx="347472" cy="484632"/>
          </a:xfrm>
          <a:prstGeom prst="rightArrow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200890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229A2E-2427-CF4F-CCED-325DE7660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945E73F-269C-462A-82B2-B8998F1ECF30}"/>
              </a:ext>
            </a:extLst>
          </p:cNvPr>
          <p:cNvSpPr/>
          <p:nvPr/>
        </p:nvSpPr>
        <p:spPr>
          <a:xfrm>
            <a:off x="0" y="9058"/>
            <a:ext cx="18288000" cy="79104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AE91E3B-4ABD-1C23-A923-C1819AC4D28C}"/>
              </a:ext>
            </a:extLst>
          </p:cNvPr>
          <p:cNvSpPr/>
          <p:nvPr/>
        </p:nvSpPr>
        <p:spPr>
          <a:xfrm>
            <a:off x="0" y="9058"/>
            <a:ext cx="3124200" cy="791042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Model Training</a:t>
            </a:r>
            <a:endParaRPr lang="en-SG" sz="24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A786B8-CA5E-2838-9393-ACF6006665B9}"/>
              </a:ext>
            </a:extLst>
          </p:cNvPr>
          <p:cNvSpPr txBox="1"/>
          <p:nvPr/>
        </p:nvSpPr>
        <p:spPr>
          <a:xfrm>
            <a:off x="3276600" y="142969"/>
            <a:ext cx="11125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Predicting Loan Default Risk using Medallion Data Pipeline</a:t>
            </a:r>
            <a:endParaRPr lang="en-SG" sz="2800" b="1" dirty="0">
              <a:solidFill>
                <a:schemeClr val="bg1"/>
              </a:solidFill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FE3E583F-0F33-C93F-F72B-484DEF626523}"/>
              </a:ext>
            </a:extLst>
          </p:cNvPr>
          <p:cNvSpPr/>
          <p:nvPr/>
        </p:nvSpPr>
        <p:spPr>
          <a:xfrm>
            <a:off x="204734" y="922439"/>
            <a:ext cx="523220" cy="52322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2400" b="1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1E89E69-955F-ACDC-394F-7F6FCA0C77AA}"/>
              </a:ext>
            </a:extLst>
          </p:cNvPr>
          <p:cNvSpPr txBox="1"/>
          <p:nvPr/>
        </p:nvSpPr>
        <p:spPr>
          <a:xfrm>
            <a:off x="762000" y="962936"/>
            <a:ext cx="118872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Objective: Combine Features and Labels for Model Training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Load gold model feature table </a:t>
            </a:r>
            <a:r>
              <a:rPr lang="en-US" altLang="en-US" sz="2000" dirty="0">
                <a:latin typeface="Arial" panose="020B0604020202020204" pitchFamily="34" charset="0"/>
              </a:rPr>
              <a:t>and gold label table for model training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E7FD8AD5-EAAD-8827-E712-87F037A98301}"/>
              </a:ext>
            </a:extLst>
          </p:cNvPr>
          <p:cNvSpPr/>
          <p:nvPr/>
        </p:nvSpPr>
        <p:spPr>
          <a:xfrm>
            <a:off x="204734" y="3082133"/>
            <a:ext cx="523220" cy="52322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2400" b="1" dirty="0"/>
              <a:t>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8294B8E-7445-1662-BF7C-E19A302F9FD7}"/>
              </a:ext>
            </a:extLst>
          </p:cNvPr>
          <p:cNvSpPr txBox="1"/>
          <p:nvPr/>
        </p:nvSpPr>
        <p:spPr>
          <a:xfrm>
            <a:off x="789432" y="3082133"/>
            <a:ext cx="9726168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Method: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sym typeface="Wingdings" panose="05000000000000000000" pitchFamily="2" charset="2"/>
              </a:rPr>
              <a:t>Gold Datamart (parquet files)</a:t>
            </a:r>
            <a:r>
              <a:rPr lang="en-US" altLang="en-US" sz="2000" b="1" dirty="0">
                <a:latin typeface="Arial" panose="020B0604020202020204" pitchFamily="34" charset="0"/>
                <a:sym typeface="Wingdings" panose="05000000000000000000" pitchFamily="2" charset="2"/>
              </a:rPr>
              <a:t> – Features (t-6), Labels (t)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sym typeface="Wingdings" panose="05000000000000000000" pitchFamily="2" charset="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Select the desired gold model feature table based on the model being trained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 </a:t>
            </a:r>
            <a:r>
              <a:rPr lang="en-US" altLang="en-US" sz="2000" dirty="0">
                <a:latin typeface="Arial" panose="020B0604020202020204" pitchFamily="34" charset="0"/>
              </a:rPr>
              <a:t>join on gold label table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000" dirty="0">
                <a:latin typeface="Arial" panose="020B0604020202020204" pitchFamily="34" charset="0"/>
              </a:rPr>
              <a:t>To prevent temporal data leakage, join on feature tables with a snapshot date 6 months prior.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000" dirty="0">
                <a:latin typeface="Arial" panose="020B0604020202020204" pitchFamily="34" charset="0"/>
              </a:rPr>
              <a:t>Since the feature table contains all information up to time t-6 and this is used to predict the label table with information at time t </a:t>
            </a:r>
            <a:r>
              <a:rPr lang="en-US" altLang="en-US" sz="2000" dirty="0">
                <a:latin typeface="Arial" panose="020B0604020202020204" pitchFamily="34" charset="0"/>
                <a:sym typeface="Wingdings" panose="05000000000000000000" pitchFamily="2" charset="2"/>
              </a:rPr>
              <a:t> this ensures there is no possible temporal data leakage from features to labels</a:t>
            </a:r>
            <a:endParaRPr lang="en-US" altLang="en-US" sz="20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8218B716-8D56-FF94-E0EB-9C36A9B18CCF}"/>
              </a:ext>
            </a:extLst>
          </p:cNvPr>
          <p:cNvSpPr/>
          <p:nvPr/>
        </p:nvSpPr>
        <p:spPr>
          <a:xfrm>
            <a:off x="204734" y="6183289"/>
            <a:ext cx="523220" cy="52322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2400" b="1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1AF0D9D-65C8-3858-14F9-A95BA9020158}"/>
              </a:ext>
            </a:extLst>
          </p:cNvPr>
          <p:cNvSpPr txBox="1"/>
          <p:nvPr/>
        </p:nvSpPr>
        <p:spPr>
          <a:xfrm>
            <a:off x="795528" y="6183289"/>
            <a:ext cx="1572463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Considerations: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Selecting the correct gold model feature table for the desired model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Prevent data leakage by joining features table from 6 months before labels table</a:t>
            </a:r>
          </a:p>
        </p:txBody>
      </p:sp>
      <p:sp>
        <p:nvSpPr>
          <p:cNvPr id="16" name="Cylinder 15">
            <a:extLst>
              <a:ext uri="{FF2B5EF4-FFF2-40B4-BE49-F238E27FC236}">
                <a16:creationId xmlns:a16="http://schemas.microsoft.com/office/drawing/2014/main" id="{9667A13B-3945-0DA0-FB43-37436B0FE258}"/>
              </a:ext>
            </a:extLst>
          </p:cNvPr>
          <p:cNvSpPr/>
          <p:nvPr/>
        </p:nvSpPr>
        <p:spPr>
          <a:xfrm>
            <a:off x="11582400" y="2120295"/>
            <a:ext cx="1371600" cy="745650"/>
          </a:xfrm>
          <a:prstGeom prst="can">
            <a:avLst/>
          </a:prstGeom>
          <a:solidFill>
            <a:srgbClr val="D5DAAA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11269C6-9A2F-FBFF-B162-E672C35FDE65}"/>
              </a:ext>
            </a:extLst>
          </p:cNvPr>
          <p:cNvSpPr txBox="1"/>
          <p:nvPr/>
        </p:nvSpPr>
        <p:spPr>
          <a:xfrm>
            <a:off x="11463528" y="1490127"/>
            <a:ext cx="16093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600" b="1" dirty="0" err="1"/>
              <a:t>Gold_model</a:t>
            </a:r>
            <a:r>
              <a:rPr lang="en-SG" sz="1600" b="1" dirty="0"/>
              <a:t>: </a:t>
            </a:r>
            <a:r>
              <a:rPr lang="en-SG" sz="1600" b="1" dirty="0" err="1"/>
              <a:t>datamart</a:t>
            </a:r>
            <a:r>
              <a:rPr lang="en-SG" sz="1600" b="1" dirty="0"/>
              <a:t>/gold/</a:t>
            </a:r>
          </a:p>
        </p:txBody>
      </p:sp>
      <p:sp>
        <p:nvSpPr>
          <p:cNvPr id="18" name="Cylinder 17">
            <a:extLst>
              <a:ext uri="{FF2B5EF4-FFF2-40B4-BE49-F238E27FC236}">
                <a16:creationId xmlns:a16="http://schemas.microsoft.com/office/drawing/2014/main" id="{5FC8561F-82B1-A86C-586E-DD4B77D7EC6D}"/>
              </a:ext>
            </a:extLst>
          </p:cNvPr>
          <p:cNvSpPr/>
          <p:nvPr/>
        </p:nvSpPr>
        <p:spPr>
          <a:xfrm>
            <a:off x="11582400" y="4199303"/>
            <a:ext cx="1371600" cy="745650"/>
          </a:xfrm>
          <a:prstGeom prst="can">
            <a:avLst/>
          </a:prstGeom>
          <a:solidFill>
            <a:srgbClr val="D5DAAA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4E88248-6BD2-BEF6-F4FE-C66DFA2FC36B}"/>
              </a:ext>
            </a:extLst>
          </p:cNvPr>
          <p:cNvSpPr txBox="1"/>
          <p:nvPr/>
        </p:nvSpPr>
        <p:spPr>
          <a:xfrm>
            <a:off x="10896600" y="2394453"/>
            <a:ext cx="2743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600" dirty="0"/>
              <a:t>LR_v1/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60624A8-58AA-E927-4196-E7612498BBB7}"/>
              </a:ext>
            </a:extLst>
          </p:cNvPr>
          <p:cNvSpPr txBox="1"/>
          <p:nvPr/>
        </p:nvSpPr>
        <p:spPr>
          <a:xfrm>
            <a:off x="10896600" y="4459970"/>
            <a:ext cx="2743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600" dirty="0" err="1"/>
              <a:t>label_store</a:t>
            </a:r>
            <a:r>
              <a:rPr lang="en-SG" sz="1600" dirty="0"/>
              <a:t>/</a:t>
            </a:r>
          </a:p>
        </p:txBody>
      </p:sp>
      <p:sp>
        <p:nvSpPr>
          <p:cNvPr id="5" name="Cross 4">
            <a:extLst>
              <a:ext uri="{FF2B5EF4-FFF2-40B4-BE49-F238E27FC236}">
                <a16:creationId xmlns:a16="http://schemas.microsoft.com/office/drawing/2014/main" id="{6B4D72B4-A7BD-AA26-513A-132201D4E47B}"/>
              </a:ext>
            </a:extLst>
          </p:cNvPr>
          <p:cNvSpPr/>
          <p:nvPr/>
        </p:nvSpPr>
        <p:spPr>
          <a:xfrm>
            <a:off x="11961242" y="3336299"/>
            <a:ext cx="613915" cy="613915"/>
          </a:xfrm>
          <a:prstGeom prst="plus">
            <a:avLst>
              <a:gd name="adj" fmla="val 32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195749A-097E-872C-4310-C52B77EE3590}"/>
              </a:ext>
            </a:extLst>
          </p:cNvPr>
          <p:cNvSpPr txBox="1"/>
          <p:nvPr/>
        </p:nvSpPr>
        <p:spPr>
          <a:xfrm>
            <a:off x="11707697" y="4995569"/>
            <a:ext cx="12463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Snapshot: 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D51A8D4-58D6-69E3-103C-94EF67834E9C}"/>
              </a:ext>
            </a:extLst>
          </p:cNvPr>
          <p:cNvSpPr txBox="1"/>
          <p:nvPr/>
        </p:nvSpPr>
        <p:spPr>
          <a:xfrm>
            <a:off x="11230258" y="2883251"/>
            <a:ext cx="22011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Snapshot: t-6 months</a:t>
            </a:r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BC4CDF19-ECC2-26FF-56AB-8971B01E34E8}"/>
              </a:ext>
            </a:extLst>
          </p:cNvPr>
          <p:cNvSpPr/>
          <p:nvPr/>
        </p:nvSpPr>
        <p:spPr>
          <a:xfrm>
            <a:off x="13627608" y="3390138"/>
            <a:ext cx="1219200" cy="511118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405457B-8B37-ABBC-37F5-448CCF459BFB}"/>
              </a:ext>
            </a:extLst>
          </p:cNvPr>
          <p:cNvSpPr/>
          <p:nvPr/>
        </p:nvSpPr>
        <p:spPr>
          <a:xfrm>
            <a:off x="15300960" y="3082133"/>
            <a:ext cx="2438400" cy="1168249"/>
          </a:xfrm>
          <a:prstGeom prst="roundRect">
            <a:avLst>
              <a:gd name="adj" fmla="val 8840"/>
            </a:avLst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>
                <a:solidFill>
                  <a:sysClr val="windowText" lastClr="000000"/>
                </a:solidFill>
              </a:rPr>
              <a:t>Model</a:t>
            </a:r>
          </a:p>
          <a:p>
            <a:pPr algn="ctr"/>
            <a:r>
              <a:rPr lang="en-SG" dirty="0">
                <a:solidFill>
                  <a:sysClr val="windowText" lastClr="000000"/>
                </a:solidFill>
              </a:rPr>
              <a:t>Train / Tune / Evaluate</a:t>
            </a:r>
          </a:p>
        </p:txBody>
      </p:sp>
    </p:spTree>
    <p:extLst>
      <p:ext uri="{BB962C8B-B14F-4D97-AF65-F5344CB8AC3E}">
        <p14:creationId xmlns:p14="http://schemas.microsoft.com/office/powerpoint/2010/main" val="13861260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</TotalTime>
  <Words>1916</Words>
  <Application>Microsoft Office PowerPoint</Application>
  <PresentationFormat>Custom</PresentationFormat>
  <Paragraphs>208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Cambria Math</vt:lpstr>
      <vt:lpstr>Wingdings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Beige and Black Minimalist Project Deck Presentation</dc:title>
  <dc:creator>user</dc:creator>
  <cp:lastModifiedBy>LIM Kai Zhuo</cp:lastModifiedBy>
  <cp:revision>5</cp:revision>
  <dcterms:created xsi:type="dcterms:W3CDTF">2006-08-16T00:00:00Z</dcterms:created>
  <dcterms:modified xsi:type="dcterms:W3CDTF">2025-10-06T15:16:04Z</dcterms:modified>
  <dc:identifier>DAG07ys-Xuw</dc:identifier>
</cp:coreProperties>
</file>